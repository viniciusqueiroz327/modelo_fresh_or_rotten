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Default Extension="jpg" ContentType="image/jp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9144000" cy="51435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50" b="1" i="0">
                <a:solidFill>
                  <a:srgbClr val="F1F1F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DFDFDF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50" b="1" i="0">
                <a:solidFill>
                  <a:srgbClr val="F1F1F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DFDFDF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50" b="1" i="0">
                <a:solidFill>
                  <a:srgbClr val="F1F1F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550" b="1" i="0">
                <a:solidFill>
                  <a:srgbClr val="F1F1F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44804" y="363855"/>
            <a:ext cx="4525645" cy="4744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50" b="1" i="0">
                <a:solidFill>
                  <a:srgbClr val="F1F1F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3690" y="1818004"/>
            <a:ext cx="4145915" cy="2090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DFDFDF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6242" y="967582"/>
            <a:ext cx="2082164" cy="111442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08200"/>
              </a:lnSpc>
              <a:spcBef>
                <a:spcPts val="100"/>
              </a:spcBef>
            </a:pPr>
            <a:r>
              <a:rPr dirty="0" sz="3300" spc="-10"/>
              <a:t>Desperdício </a:t>
            </a:r>
            <a:r>
              <a:rPr dirty="0" sz="3300" spc="-10">
                <a:solidFill>
                  <a:srgbClr val="FF4D00"/>
                </a:solidFill>
              </a:rPr>
              <a:t>Alimentar</a:t>
            </a:r>
            <a:endParaRPr sz="3300"/>
          </a:p>
        </p:txBody>
      </p:sp>
      <p:sp>
        <p:nvSpPr>
          <p:cNvPr id="4" name="object 4" descr=""/>
          <p:cNvSpPr txBox="1"/>
          <p:nvPr/>
        </p:nvSpPr>
        <p:spPr>
          <a:xfrm>
            <a:off x="416242" y="2210943"/>
            <a:ext cx="3572510" cy="11131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08100"/>
              </a:lnSpc>
              <a:spcBef>
                <a:spcPts val="100"/>
              </a:spcBef>
            </a:pPr>
            <a:r>
              <a:rPr dirty="0" sz="3300" b="1">
                <a:solidFill>
                  <a:srgbClr val="F1F1F1"/>
                </a:solidFill>
                <a:latin typeface="Calibri"/>
                <a:cs typeface="Calibri"/>
              </a:rPr>
              <a:t>Um</a:t>
            </a:r>
            <a:r>
              <a:rPr dirty="0" sz="3300" spc="-7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3300" b="1">
                <a:solidFill>
                  <a:srgbClr val="F1F1F1"/>
                </a:solidFill>
                <a:latin typeface="Calibri"/>
                <a:cs typeface="Calibri"/>
              </a:rPr>
              <a:t>Desafio</a:t>
            </a:r>
            <a:r>
              <a:rPr dirty="0" sz="3300" spc="-6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3300" b="1">
                <a:solidFill>
                  <a:srgbClr val="F1F1F1"/>
                </a:solidFill>
                <a:latin typeface="Calibri"/>
                <a:cs typeface="Calibri"/>
              </a:rPr>
              <a:t>Global </a:t>
            </a:r>
            <a:r>
              <a:rPr dirty="0" sz="3300" spc="-50" b="1">
                <a:solidFill>
                  <a:srgbClr val="F1F1F1"/>
                </a:solidFill>
                <a:latin typeface="Calibri"/>
                <a:cs typeface="Calibri"/>
              </a:rPr>
              <a:t>e </a:t>
            </a:r>
            <a:r>
              <a:rPr dirty="0" sz="3300" spc="-10" b="1">
                <a:solidFill>
                  <a:srgbClr val="F1F1F1"/>
                </a:solidFill>
                <a:latin typeface="Calibri"/>
                <a:cs typeface="Calibri"/>
              </a:rPr>
              <a:t>Local</a:t>
            </a:r>
            <a:endParaRPr sz="3300">
              <a:latin typeface="Calibri"/>
              <a:cs typeface="Calibri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416242" y="3687607"/>
            <a:ext cx="2801620" cy="94106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43100"/>
              </a:lnSpc>
              <a:spcBef>
                <a:spcPts val="95"/>
              </a:spcBef>
            </a:pP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O</a:t>
            </a:r>
            <a:r>
              <a:rPr dirty="0" sz="10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desperdício</a:t>
            </a:r>
            <a:r>
              <a:rPr dirty="0" sz="10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alimentar</a:t>
            </a:r>
            <a:r>
              <a:rPr dirty="0" sz="1050" spc="-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é</a:t>
            </a:r>
            <a:r>
              <a:rPr dirty="0" sz="10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uma</a:t>
            </a:r>
            <a:r>
              <a:rPr dirty="0" sz="10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das</a:t>
            </a:r>
            <a:r>
              <a:rPr dirty="0" sz="10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falhas</a:t>
            </a:r>
            <a:r>
              <a:rPr dirty="0" sz="10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 spc="-20">
                <a:solidFill>
                  <a:srgbClr val="DFDFDF"/>
                </a:solidFill>
                <a:latin typeface="Calibri"/>
                <a:cs typeface="Calibri"/>
              </a:rPr>
              <a:t>mais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graves</a:t>
            </a:r>
            <a:r>
              <a:rPr dirty="0" sz="1050" spc="-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do</a:t>
            </a:r>
            <a:r>
              <a:rPr dirty="0" sz="1050" spc="-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sistema</a:t>
            </a:r>
            <a:r>
              <a:rPr dirty="0" sz="10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alimentar</a:t>
            </a:r>
            <a:r>
              <a:rPr dirty="0" sz="10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global,</a:t>
            </a:r>
            <a:r>
              <a:rPr dirty="0" sz="10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 spc="-10">
                <a:solidFill>
                  <a:srgbClr val="DFDFDF"/>
                </a:solidFill>
                <a:latin typeface="Calibri"/>
                <a:cs typeface="Calibri"/>
              </a:rPr>
              <a:t>com</a:t>
            </a:r>
            <a:r>
              <a:rPr dirty="0" sz="1050" spc="-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 spc="-10">
                <a:solidFill>
                  <a:srgbClr val="DFDFDF"/>
                </a:solidFill>
                <a:latin typeface="Calibri"/>
                <a:cs typeface="Calibri"/>
              </a:rPr>
              <a:t>profundos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impactos</a:t>
            </a:r>
            <a:r>
              <a:rPr dirty="0" sz="10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ambientais</a:t>
            </a:r>
            <a:r>
              <a:rPr dirty="0" sz="10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1050" spc="-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sociais.</a:t>
            </a:r>
            <a:r>
              <a:rPr dirty="0" sz="10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1050" spc="-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>
                <a:solidFill>
                  <a:srgbClr val="DFDFDF"/>
                </a:solidFill>
                <a:latin typeface="Calibri"/>
                <a:cs typeface="Calibri"/>
              </a:rPr>
              <a:t>intervenção</a:t>
            </a:r>
            <a:r>
              <a:rPr dirty="0" sz="1050" spc="-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1050" spc="-50">
                <a:solidFill>
                  <a:srgbClr val="DFDFDF"/>
                </a:solidFill>
                <a:latin typeface="Calibri"/>
                <a:cs typeface="Calibri"/>
              </a:rPr>
              <a:t>é</a:t>
            </a:r>
            <a:r>
              <a:rPr dirty="0" sz="1050" spc="-10">
                <a:solidFill>
                  <a:srgbClr val="DFDFDF"/>
                </a:solidFill>
                <a:latin typeface="Calibri"/>
                <a:cs typeface="Calibri"/>
              </a:rPr>
              <a:t> urgente.</a:t>
            </a:r>
            <a:endParaRPr sz="105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72000" y="0"/>
            <a:ext cx="4572000" cy="51434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24218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Um</a:t>
            </a:r>
            <a:r>
              <a:rPr dirty="0" spc="80"/>
              <a:t> </a:t>
            </a:r>
            <a:r>
              <a:rPr dirty="0"/>
              <a:t>Terço</a:t>
            </a:r>
            <a:r>
              <a:rPr dirty="0" spc="65"/>
              <a:t> </a:t>
            </a:r>
            <a:r>
              <a:rPr dirty="0"/>
              <a:t>da</a:t>
            </a:r>
            <a:r>
              <a:rPr dirty="0" spc="60"/>
              <a:t> </a:t>
            </a:r>
            <a:r>
              <a:rPr dirty="0"/>
              <a:t>Comida</a:t>
            </a:r>
            <a:r>
              <a:rPr dirty="0" spc="55"/>
              <a:t> </a:t>
            </a:r>
            <a:r>
              <a:rPr dirty="0"/>
              <a:t>Produzida</a:t>
            </a:r>
            <a:r>
              <a:rPr dirty="0" spc="60"/>
              <a:t> </a:t>
            </a:r>
            <a:r>
              <a:rPr dirty="0"/>
              <a:t>é</a:t>
            </a:r>
            <a:r>
              <a:rPr dirty="0" spc="130"/>
              <a:t> </a:t>
            </a:r>
            <a:r>
              <a:rPr dirty="0" spc="-10"/>
              <a:t>Perdida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344804" y="1378542"/>
            <a:ext cx="3816350" cy="3035300"/>
          </a:xfrm>
          <a:prstGeom prst="rect">
            <a:avLst/>
          </a:prstGeom>
        </p:spPr>
        <p:txBody>
          <a:bodyPr wrap="square" lIns="0" tIns="590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Volume</a:t>
            </a:r>
            <a:r>
              <a:rPr dirty="0" sz="750" spc="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Global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25"/>
              </a:spcBef>
            </a:pPr>
            <a:r>
              <a:rPr dirty="0" sz="1400" b="1">
                <a:solidFill>
                  <a:srgbClr val="FF4D00"/>
                </a:solidFill>
                <a:latin typeface="Calibri"/>
                <a:cs typeface="Calibri"/>
              </a:rPr>
              <a:t>1/3</a:t>
            </a:r>
            <a:r>
              <a:rPr dirty="0" sz="1400" spc="-5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1400" b="1">
                <a:solidFill>
                  <a:srgbClr val="FF4D00"/>
                </a:solidFill>
                <a:latin typeface="Calibri"/>
                <a:cs typeface="Calibri"/>
              </a:rPr>
              <a:t>dos</a:t>
            </a:r>
            <a:r>
              <a:rPr dirty="0" sz="1400" spc="3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1400" spc="-10" b="1">
                <a:solidFill>
                  <a:srgbClr val="FF4D00"/>
                </a:solidFill>
                <a:latin typeface="Calibri"/>
                <a:cs typeface="Calibri"/>
              </a:rPr>
              <a:t>alimentos</a:t>
            </a:r>
            <a:endParaRPr sz="1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50"/>
              </a:spcBef>
            </a:pP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Centenas</a:t>
            </a:r>
            <a:r>
              <a:rPr dirty="0" sz="80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80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milhões</a:t>
            </a:r>
            <a:r>
              <a:rPr dirty="0" sz="80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80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toneladas</a:t>
            </a:r>
            <a:r>
              <a:rPr dirty="0" sz="80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não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são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consumidas</a:t>
            </a:r>
            <a:r>
              <a:rPr dirty="0" sz="80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80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cada</a:t>
            </a:r>
            <a:r>
              <a:rPr dirty="0" sz="80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ano,</a:t>
            </a:r>
            <a:r>
              <a:rPr dirty="0" sz="800" spc="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perdidas</a:t>
            </a:r>
            <a:r>
              <a:rPr dirty="0" sz="80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ao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longo</a:t>
            </a:r>
            <a:r>
              <a:rPr dirty="0" sz="800" spc="10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 spc="-25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endParaRPr sz="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toda</a:t>
            </a:r>
            <a:r>
              <a:rPr dirty="0" sz="80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80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cadeia</a:t>
            </a:r>
            <a:r>
              <a:rPr dirty="0" sz="800" spc="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—</a:t>
            </a:r>
            <a:r>
              <a:rPr dirty="0" sz="80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da</a:t>
            </a:r>
            <a:r>
              <a:rPr dirty="0" sz="80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colheita</a:t>
            </a:r>
            <a:r>
              <a:rPr dirty="0" sz="80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ao</a:t>
            </a:r>
            <a:r>
              <a:rPr dirty="0" sz="800" spc="7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consumidor</a:t>
            </a:r>
            <a:r>
              <a:rPr dirty="0" sz="800" spc="7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DFDFDF"/>
                </a:solidFill>
                <a:latin typeface="Calibri"/>
                <a:cs typeface="Calibri"/>
              </a:rPr>
              <a:t>final.</a:t>
            </a:r>
            <a:endParaRPr sz="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sz="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Impacto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Climático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25"/>
              </a:spcBef>
            </a:pPr>
            <a:r>
              <a:rPr dirty="0" sz="1400" b="1">
                <a:solidFill>
                  <a:srgbClr val="FF4D00"/>
                </a:solidFill>
                <a:latin typeface="Calibri"/>
                <a:cs typeface="Calibri"/>
              </a:rPr>
              <a:t>6%</a:t>
            </a:r>
            <a:r>
              <a:rPr dirty="0" sz="1400" spc="-6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1400" b="1">
                <a:solidFill>
                  <a:srgbClr val="FF4D00"/>
                </a:solidFill>
                <a:latin typeface="Calibri"/>
                <a:cs typeface="Calibri"/>
              </a:rPr>
              <a:t>a</a:t>
            </a:r>
            <a:r>
              <a:rPr dirty="0" sz="1400" spc="6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1400" spc="-25" b="1">
                <a:solidFill>
                  <a:srgbClr val="FF4D00"/>
                </a:solidFill>
                <a:latin typeface="Calibri"/>
                <a:cs typeface="Calibri"/>
              </a:rPr>
              <a:t>10%</a:t>
            </a:r>
            <a:endParaRPr sz="1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50"/>
              </a:spcBef>
            </a:pP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Das</a:t>
            </a:r>
            <a:r>
              <a:rPr dirty="0" sz="80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emissões</a:t>
            </a:r>
            <a:r>
              <a:rPr dirty="0" sz="80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globais</a:t>
            </a:r>
            <a:r>
              <a:rPr dirty="0" sz="80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80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gases</a:t>
            </a:r>
            <a:r>
              <a:rPr dirty="0" sz="80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80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efeito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estufa</a:t>
            </a:r>
            <a:r>
              <a:rPr dirty="0" sz="80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são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causadas</a:t>
            </a:r>
            <a:r>
              <a:rPr dirty="0" sz="80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pelo</a:t>
            </a:r>
            <a:r>
              <a:rPr dirty="0" sz="800" spc="10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desperdício</a:t>
            </a:r>
            <a:r>
              <a:rPr dirty="0" sz="80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DFDFDF"/>
                </a:solidFill>
                <a:latin typeface="Calibri"/>
                <a:cs typeface="Calibri"/>
              </a:rPr>
              <a:t>alimentar.</a:t>
            </a:r>
            <a:endParaRPr sz="8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875"/>
              </a:spcBef>
            </a:pPr>
            <a:endParaRPr sz="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Conclusão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25"/>
              </a:spcBef>
            </a:pPr>
            <a:r>
              <a:rPr dirty="0" sz="1400" b="1">
                <a:solidFill>
                  <a:srgbClr val="FF4D00"/>
                </a:solidFill>
                <a:latin typeface="Calibri"/>
                <a:cs typeface="Calibri"/>
              </a:rPr>
              <a:t>Alavanca</a:t>
            </a:r>
            <a:r>
              <a:rPr dirty="0" sz="1400" spc="-6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1400" spc="-10" b="1">
                <a:solidFill>
                  <a:srgbClr val="FF4D00"/>
                </a:solidFill>
                <a:latin typeface="Calibri"/>
                <a:cs typeface="Calibri"/>
              </a:rPr>
              <a:t>Direta</a:t>
            </a:r>
            <a:endParaRPr sz="1400">
              <a:latin typeface="Calibri"/>
              <a:cs typeface="Calibri"/>
            </a:endParaRPr>
          </a:p>
          <a:p>
            <a:pPr marL="12700" marR="358775">
              <a:lnSpc>
                <a:spcPct val="148700"/>
              </a:lnSpc>
              <a:spcBef>
                <a:spcPts val="680"/>
              </a:spcBef>
            </a:pP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Reduzir o</a:t>
            </a:r>
            <a:r>
              <a:rPr dirty="0" sz="800" spc="9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desperdício</a:t>
            </a:r>
            <a:r>
              <a:rPr dirty="0" sz="80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é</a:t>
            </a:r>
            <a:r>
              <a:rPr dirty="0" sz="80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uma</a:t>
            </a:r>
            <a:r>
              <a:rPr dirty="0" sz="80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das</a:t>
            </a:r>
            <a:r>
              <a:rPr dirty="0" sz="80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estratégias</a:t>
            </a:r>
            <a:r>
              <a:rPr dirty="0" sz="80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mais</a:t>
            </a:r>
            <a:r>
              <a:rPr dirty="0" sz="800" spc="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eficazes</a:t>
            </a:r>
            <a:r>
              <a:rPr dirty="0" sz="800" spc="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800" spc="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DFDFDF"/>
                </a:solidFill>
                <a:latin typeface="Calibri"/>
                <a:cs typeface="Calibri"/>
              </a:rPr>
              <a:t>mitigação</a:t>
            </a:r>
            <a:r>
              <a:rPr dirty="0" sz="80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DFDFDF"/>
                </a:solidFill>
                <a:latin typeface="Calibri"/>
                <a:cs typeface="Calibri"/>
              </a:rPr>
              <a:t>climática</a:t>
            </a:r>
            <a:r>
              <a:rPr dirty="0" sz="800" spc="50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DFDFDF"/>
                </a:solidFill>
                <a:latin typeface="Calibri"/>
                <a:cs typeface="Calibri"/>
              </a:rPr>
              <a:t>disponíveis.</a:t>
            </a:r>
            <a:endParaRPr sz="800">
              <a:latin typeface="Calibri"/>
              <a:cs typeface="Calibri"/>
            </a:endParaRPr>
          </a:p>
        </p:txBody>
      </p:sp>
      <p:grpSp>
        <p:nvGrpSpPr>
          <p:cNvPr id="4" name="object 4" descr=""/>
          <p:cNvGrpSpPr/>
          <p:nvPr/>
        </p:nvGrpSpPr>
        <p:grpSpPr>
          <a:xfrm>
            <a:off x="4533900" y="428625"/>
            <a:ext cx="4257675" cy="4286250"/>
            <a:chOff x="4533900" y="428625"/>
            <a:chExt cx="4257675" cy="4286250"/>
          </a:xfrm>
        </p:grpSpPr>
        <p:sp>
          <p:nvSpPr>
            <p:cNvPr id="5" name="object 5" descr=""/>
            <p:cNvSpPr/>
            <p:nvPr/>
          </p:nvSpPr>
          <p:spPr>
            <a:xfrm>
              <a:off x="4533900" y="428625"/>
              <a:ext cx="4257675" cy="2143125"/>
            </a:xfrm>
            <a:custGeom>
              <a:avLst/>
              <a:gdLst/>
              <a:ahLst/>
              <a:cxnLst/>
              <a:rect l="l" t="t" r="r" b="b"/>
              <a:pathLst>
                <a:path w="4257675" h="2143125">
                  <a:moveTo>
                    <a:pt x="4257675" y="0"/>
                  </a:moveTo>
                  <a:lnTo>
                    <a:pt x="0" y="0"/>
                  </a:lnTo>
                  <a:lnTo>
                    <a:pt x="0" y="2143125"/>
                  </a:lnTo>
                  <a:lnTo>
                    <a:pt x="4257675" y="2143125"/>
                  </a:lnTo>
                  <a:lnTo>
                    <a:pt x="4257675" y="0"/>
                  </a:lnTo>
                  <a:close/>
                </a:path>
              </a:pathLst>
            </a:custGeom>
            <a:solidFill>
              <a:srgbClr val="FF4D00">
                <a:alpha val="5097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 descr=""/>
            <p:cNvSpPr/>
            <p:nvPr/>
          </p:nvSpPr>
          <p:spPr>
            <a:xfrm>
              <a:off x="4533900" y="428625"/>
              <a:ext cx="19050" cy="2143125"/>
            </a:xfrm>
            <a:custGeom>
              <a:avLst/>
              <a:gdLst/>
              <a:ahLst/>
              <a:cxnLst/>
              <a:rect l="l" t="t" r="r" b="b"/>
              <a:pathLst>
                <a:path w="19050" h="2143125">
                  <a:moveTo>
                    <a:pt x="19050" y="0"/>
                  </a:moveTo>
                  <a:lnTo>
                    <a:pt x="0" y="0"/>
                  </a:lnTo>
                  <a:lnTo>
                    <a:pt x="0" y="2143125"/>
                  </a:lnTo>
                  <a:lnTo>
                    <a:pt x="19050" y="2143125"/>
                  </a:lnTo>
                  <a:lnTo>
                    <a:pt x="19050" y="0"/>
                  </a:lnTo>
                  <a:close/>
                </a:path>
              </a:pathLst>
            </a:custGeom>
            <a:solidFill>
              <a:srgbClr val="FF4D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38850" y="533400"/>
              <a:ext cx="1247775" cy="1933575"/>
            </a:xfrm>
            <a:prstGeom prst="rect">
              <a:avLst/>
            </a:prstGeom>
          </p:spPr>
        </p:pic>
        <p:sp>
          <p:nvSpPr>
            <p:cNvPr id="8" name="object 8" descr=""/>
            <p:cNvSpPr/>
            <p:nvPr/>
          </p:nvSpPr>
          <p:spPr>
            <a:xfrm>
              <a:off x="4533900" y="2571750"/>
              <a:ext cx="4257675" cy="2143125"/>
            </a:xfrm>
            <a:custGeom>
              <a:avLst/>
              <a:gdLst/>
              <a:ahLst/>
              <a:cxnLst/>
              <a:rect l="l" t="t" r="r" b="b"/>
              <a:pathLst>
                <a:path w="4257675" h="2143125">
                  <a:moveTo>
                    <a:pt x="4257675" y="0"/>
                  </a:moveTo>
                  <a:lnTo>
                    <a:pt x="0" y="0"/>
                  </a:lnTo>
                  <a:lnTo>
                    <a:pt x="0" y="2143125"/>
                  </a:lnTo>
                  <a:lnTo>
                    <a:pt x="4257675" y="2143125"/>
                  </a:lnTo>
                  <a:lnTo>
                    <a:pt x="4257675" y="0"/>
                  </a:lnTo>
                  <a:close/>
                </a:path>
              </a:pathLst>
            </a:custGeom>
            <a:solidFill>
              <a:srgbClr val="FF4D00">
                <a:alpha val="5097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 descr=""/>
            <p:cNvSpPr/>
            <p:nvPr/>
          </p:nvSpPr>
          <p:spPr>
            <a:xfrm>
              <a:off x="4533900" y="2571750"/>
              <a:ext cx="19050" cy="2143125"/>
            </a:xfrm>
            <a:custGeom>
              <a:avLst/>
              <a:gdLst/>
              <a:ahLst/>
              <a:cxnLst/>
              <a:rect l="l" t="t" r="r" b="b"/>
              <a:pathLst>
                <a:path w="19050" h="2143125">
                  <a:moveTo>
                    <a:pt x="19050" y="0"/>
                  </a:moveTo>
                  <a:lnTo>
                    <a:pt x="0" y="0"/>
                  </a:lnTo>
                  <a:lnTo>
                    <a:pt x="0" y="2143125"/>
                  </a:lnTo>
                  <a:lnTo>
                    <a:pt x="19050" y="2143125"/>
                  </a:lnTo>
                  <a:lnTo>
                    <a:pt x="19050" y="0"/>
                  </a:lnTo>
                  <a:close/>
                </a:path>
              </a:pathLst>
            </a:custGeom>
            <a:solidFill>
              <a:srgbClr val="FF4D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0" y="2676525"/>
              <a:ext cx="4010025" cy="19335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6775" y="1143000"/>
            <a:ext cx="4257675" cy="3276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5912" y="1168717"/>
            <a:ext cx="4020185" cy="26606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O</a:t>
            </a:r>
            <a:r>
              <a:rPr dirty="0" spc="105"/>
              <a:t> </a:t>
            </a:r>
            <a:r>
              <a:rPr dirty="0"/>
              <a:t>Desperdício</a:t>
            </a:r>
            <a:r>
              <a:rPr dirty="0" spc="150"/>
              <a:t> </a:t>
            </a:r>
            <a:r>
              <a:rPr dirty="0"/>
              <a:t>Doméstico</a:t>
            </a:r>
            <a:r>
              <a:rPr dirty="0" spc="75"/>
              <a:t> </a:t>
            </a:r>
            <a:r>
              <a:rPr dirty="0"/>
              <a:t>é</a:t>
            </a:r>
            <a:r>
              <a:rPr dirty="0" spc="125"/>
              <a:t> </a:t>
            </a:r>
            <a:r>
              <a:rPr dirty="0"/>
              <a:t>o</a:t>
            </a:r>
            <a:r>
              <a:rPr dirty="0" spc="65"/>
              <a:t> </a:t>
            </a:r>
            <a:r>
              <a:rPr dirty="0"/>
              <a:t>"Elefante</a:t>
            </a:r>
            <a:r>
              <a:rPr dirty="0" spc="125"/>
              <a:t> </a:t>
            </a:r>
            <a:r>
              <a:rPr dirty="0"/>
              <a:t>na</a:t>
            </a:r>
            <a:r>
              <a:rPr dirty="0" spc="50"/>
              <a:t> </a:t>
            </a:r>
            <a:r>
              <a:rPr dirty="0" spc="-10"/>
              <a:t>Sala"</a:t>
            </a:r>
          </a:p>
        </p:txBody>
      </p:sp>
      <p:sp>
        <p:nvSpPr>
          <p:cNvPr id="4" name="object 4" descr="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 marR="109220">
              <a:lnSpc>
                <a:spcPct val="100400"/>
              </a:lnSpc>
              <a:spcBef>
                <a:spcPts val="95"/>
              </a:spcBef>
            </a:pPr>
            <a:r>
              <a:rPr dirty="0"/>
              <a:t>Segundo</a:t>
            </a:r>
            <a:r>
              <a:rPr dirty="0" spc="-25"/>
              <a:t> </a:t>
            </a:r>
            <a:r>
              <a:rPr dirty="0"/>
              <a:t>o Relatório</a:t>
            </a:r>
            <a:r>
              <a:rPr dirty="0" spc="15"/>
              <a:t> </a:t>
            </a:r>
            <a:r>
              <a:rPr dirty="0"/>
              <a:t>do</a:t>
            </a:r>
            <a:r>
              <a:rPr dirty="0" spc="10"/>
              <a:t> </a:t>
            </a:r>
            <a:r>
              <a:rPr dirty="0"/>
              <a:t>Índice</a:t>
            </a:r>
            <a:r>
              <a:rPr dirty="0" spc="-45"/>
              <a:t> </a:t>
            </a:r>
            <a:r>
              <a:rPr dirty="0"/>
              <a:t>de</a:t>
            </a:r>
            <a:r>
              <a:rPr dirty="0" spc="15"/>
              <a:t> </a:t>
            </a:r>
            <a:r>
              <a:rPr dirty="0" spc="-10"/>
              <a:t>Desperdício</a:t>
            </a:r>
            <a:r>
              <a:rPr dirty="0" spc="-40"/>
              <a:t> </a:t>
            </a:r>
            <a:r>
              <a:rPr dirty="0"/>
              <a:t>de</a:t>
            </a:r>
            <a:r>
              <a:rPr dirty="0" spc="10"/>
              <a:t> </a:t>
            </a:r>
            <a:r>
              <a:rPr dirty="0" spc="-10"/>
              <a:t>Alimentos</a:t>
            </a:r>
            <a:r>
              <a:rPr dirty="0" spc="-40"/>
              <a:t> </a:t>
            </a:r>
            <a:r>
              <a:rPr dirty="0"/>
              <a:t>2024,</a:t>
            </a:r>
            <a:r>
              <a:rPr dirty="0" spc="20"/>
              <a:t> </a:t>
            </a:r>
            <a:r>
              <a:rPr dirty="0"/>
              <a:t>publicado</a:t>
            </a:r>
            <a:r>
              <a:rPr dirty="0" spc="-35"/>
              <a:t> </a:t>
            </a:r>
            <a:r>
              <a:rPr dirty="0" spc="-20"/>
              <a:t>pelo</a:t>
            </a:r>
            <a:r>
              <a:rPr dirty="0" spc="500"/>
              <a:t> </a:t>
            </a:r>
            <a:r>
              <a:rPr dirty="0"/>
              <a:t>Programa</a:t>
            </a:r>
            <a:r>
              <a:rPr dirty="0" spc="-45"/>
              <a:t> </a:t>
            </a:r>
            <a:r>
              <a:rPr dirty="0"/>
              <a:t>das</a:t>
            </a:r>
            <a:r>
              <a:rPr dirty="0" spc="-25"/>
              <a:t> </a:t>
            </a:r>
            <a:r>
              <a:rPr dirty="0"/>
              <a:t>Nações</a:t>
            </a:r>
            <a:r>
              <a:rPr dirty="0" spc="-40"/>
              <a:t> </a:t>
            </a:r>
            <a:r>
              <a:rPr dirty="0"/>
              <a:t>Unidas</a:t>
            </a:r>
            <a:r>
              <a:rPr dirty="0" spc="-50"/>
              <a:t> </a:t>
            </a:r>
            <a:r>
              <a:rPr dirty="0"/>
              <a:t>para</a:t>
            </a:r>
            <a:r>
              <a:rPr dirty="0" spc="10"/>
              <a:t> </a:t>
            </a:r>
            <a:r>
              <a:rPr dirty="0"/>
              <a:t>o</a:t>
            </a:r>
            <a:r>
              <a:rPr dirty="0" spc="-25"/>
              <a:t> </a:t>
            </a:r>
            <a:r>
              <a:rPr dirty="0"/>
              <a:t>Meio</a:t>
            </a:r>
            <a:r>
              <a:rPr dirty="0" spc="-20"/>
              <a:t> </a:t>
            </a:r>
            <a:r>
              <a:rPr dirty="0"/>
              <a:t>Ambiente</a:t>
            </a:r>
            <a:r>
              <a:rPr dirty="0" spc="-10"/>
              <a:t> </a:t>
            </a:r>
            <a:r>
              <a:rPr dirty="0"/>
              <a:t>(PNUMA), o</a:t>
            </a:r>
            <a:r>
              <a:rPr dirty="0" spc="-30"/>
              <a:t> </a:t>
            </a:r>
            <a:r>
              <a:rPr dirty="0"/>
              <a:t>mundo</a:t>
            </a:r>
            <a:r>
              <a:rPr dirty="0" spc="-50"/>
              <a:t> </a:t>
            </a:r>
            <a:r>
              <a:rPr dirty="0" spc="-10"/>
              <a:t>desperdiçou</a:t>
            </a:r>
            <a:r>
              <a:rPr dirty="0" spc="500"/>
              <a:t> </a:t>
            </a:r>
            <a:r>
              <a:rPr dirty="0"/>
              <a:t>cerca</a:t>
            </a:r>
            <a:r>
              <a:rPr dirty="0" spc="-40"/>
              <a:t> </a:t>
            </a:r>
            <a:r>
              <a:rPr dirty="0"/>
              <a:t>de</a:t>
            </a:r>
            <a:r>
              <a:rPr dirty="0" spc="10"/>
              <a:t> </a:t>
            </a:r>
            <a:r>
              <a:rPr dirty="0"/>
              <a:t>1,05</a:t>
            </a:r>
            <a:r>
              <a:rPr dirty="0" spc="-30"/>
              <a:t> </a:t>
            </a:r>
            <a:r>
              <a:rPr dirty="0"/>
              <a:t>bilhão</a:t>
            </a:r>
            <a:r>
              <a:rPr dirty="0" spc="-15"/>
              <a:t> </a:t>
            </a:r>
            <a:r>
              <a:rPr dirty="0"/>
              <a:t>de</a:t>
            </a:r>
            <a:r>
              <a:rPr dirty="0" spc="5"/>
              <a:t> </a:t>
            </a:r>
            <a:r>
              <a:rPr dirty="0"/>
              <a:t>toneladas</a:t>
            </a:r>
            <a:r>
              <a:rPr dirty="0" spc="-5"/>
              <a:t> </a:t>
            </a:r>
            <a:r>
              <a:rPr dirty="0"/>
              <a:t>de alimentos</a:t>
            </a:r>
            <a:r>
              <a:rPr dirty="0" spc="-35"/>
              <a:t> </a:t>
            </a:r>
            <a:r>
              <a:rPr dirty="0"/>
              <a:t>em</a:t>
            </a:r>
            <a:r>
              <a:rPr dirty="0" spc="-15"/>
              <a:t> </a:t>
            </a:r>
            <a:r>
              <a:rPr dirty="0"/>
              <a:t>2022. </a:t>
            </a:r>
            <a:r>
              <a:rPr dirty="0" spc="-10"/>
              <a:t>O</a:t>
            </a:r>
            <a:r>
              <a:rPr dirty="0" spc="-50"/>
              <a:t> </a:t>
            </a:r>
            <a:r>
              <a:rPr dirty="0"/>
              <a:t>dado</a:t>
            </a:r>
            <a:r>
              <a:rPr dirty="0" spc="-20"/>
              <a:t> </a:t>
            </a:r>
            <a:r>
              <a:rPr dirty="0" spc="-10"/>
              <a:t>crucial</a:t>
            </a:r>
            <a:r>
              <a:rPr dirty="0" spc="-40"/>
              <a:t> </a:t>
            </a:r>
            <a:r>
              <a:rPr dirty="0"/>
              <a:t>para</a:t>
            </a:r>
            <a:r>
              <a:rPr dirty="0" spc="-10"/>
              <a:t> </a:t>
            </a:r>
            <a:r>
              <a:rPr dirty="0" spc="-20"/>
              <a:t>esta</a:t>
            </a:r>
            <a:r>
              <a:rPr dirty="0" spc="500"/>
              <a:t> </a:t>
            </a:r>
            <a:r>
              <a:rPr dirty="0"/>
              <a:t>solução</a:t>
            </a:r>
            <a:r>
              <a:rPr dirty="0" spc="-30"/>
              <a:t> </a:t>
            </a:r>
            <a:r>
              <a:rPr dirty="0"/>
              <a:t>é</a:t>
            </a:r>
            <a:r>
              <a:rPr dirty="0" spc="-15"/>
              <a:t> </a:t>
            </a:r>
            <a:r>
              <a:rPr dirty="0"/>
              <a:t>que</a:t>
            </a:r>
            <a:r>
              <a:rPr dirty="0" spc="-40"/>
              <a:t> </a:t>
            </a:r>
            <a:r>
              <a:rPr dirty="0"/>
              <a:t>a</a:t>
            </a:r>
            <a:r>
              <a:rPr dirty="0" spc="-25"/>
              <a:t> </a:t>
            </a:r>
            <a:r>
              <a:rPr dirty="0"/>
              <a:t>maior</a:t>
            </a:r>
            <a:r>
              <a:rPr dirty="0" spc="-50"/>
              <a:t> </a:t>
            </a:r>
            <a:r>
              <a:rPr dirty="0"/>
              <a:t>parte</a:t>
            </a:r>
            <a:r>
              <a:rPr dirty="0" spc="-5"/>
              <a:t> </a:t>
            </a:r>
            <a:r>
              <a:rPr dirty="0"/>
              <a:t>desse</a:t>
            </a:r>
            <a:r>
              <a:rPr dirty="0" spc="-35"/>
              <a:t> </a:t>
            </a:r>
            <a:r>
              <a:rPr dirty="0"/>
              <a:t>desperdício</a:t>
            </a:r>
            <a:r>
              <a:rPr dirty="0" spc="-45"/>
              <a:t> </a:t>
            </a:r>
            <a:r>
              <a:rPr dirty="0"/>
              <a:t>não</a:t>
            </a:r>
            <a:r>
              <a:rPr dirty="0" spc="-20"/>
              <a:t> </a:t>
            </a:r>
            <a:r>
              <a:rPr dirty="0"/>
              <a:t>ocorre</a:t>
            </a:r>
            <a:r>
              <a:rPr dirty="0" spc="-10"/>
              <a:t> </a:t>
            </a:r>
            <a:r>
              <a:rPr dirty="0"/>
              <a:t>na</a:t>
            </a:r>
            <a:r>
              <a:rPr dirty="0" spc="-5"/>
              <a:t> </a:t>
            </a:r>
            <a:r>
              <a:rPr dirty="0"/>
              <a:t>indústria,</a:t>
            </a:r>
            <a:r>
              <a:rPr dirty="0" spc="5"/>
              <a:t> </a:t>
            </a:r>
            <a:r>
              <a:rPr dirty="0"/>
              <a:t>mas</a:t>
            </a:r>
            <a:r>
              <a:rPr dirty="0" spc="-15"/>
              <a:t> </a:t>
            </a:r>
            <a:r>
              <a:rPr dirty="0"/>
              <a:t>dentro</a:t>
            </a:r>
            <a:r>
              <a:rPr dirty="0" spc="-30"/>
              <a:t> </a:t>
            </a:r>
            <a:r>
              <a:rPr dirty="0" spc="-25"/>
              <a:t>de</a:t>
            </a:r>
            <a:r>
              <a:rPr dirty="0" spc="500"/>
              <a:t> </a:t>
            </a:r>
            <a:r>
              <a:rPr dirty="0"/>
              <a:t>casa:</a:t>
            </a:r>
            <a:r>
              <a:rPr dirty="0" spc="-25"/>
              <a:t> </a:t>
            </a:r>
            <a:r>
              <a:rPr dirty="0"/>
              <a:t>60%</a:t>
            </a:r>
            <a:r>
              <a:rPr dirty="0" spc="-40"/>
              <a:t> </a:t>
            </a:r>
            <a:r>
              <a:rPr dirty="0"/>
              <a:t>de</a:t>
            </a:r>
            <a:r>
              <a:rPr dirty="0" spc="10"/>
              <a:t> </a:t>
            </a:r>
            <a:r>
              <a:rPr dirty="0"/>
              <a:t>todo</a:t>
            </a:r>
            <a:r>
              <a:rPr dirty="0" spc="-50"/>
              <a:t> </a:t>
            </a:r>
            <a:r>
              <a:rPr dirty="0"/>
              <a:t>o</a:t>
            </a:r>
            <a:r>
              <a:rPr dirty="0" spc="-25"/>
              <a:t> </a:t>
            </a:r>
            <a:r>
              <a:rPr dirty="0"/>
              <a:t>desperdício</a:t>
            </a:r>
            <a:r>
              <a:rPr dirty="0" spc="-50"/>
              <a:t> </a:t>
            </a:r>
            <a:r>
              <a:rPr dirty="0"/>
              <a:t>alimentar</a:t>
            </a:r>
            <a:r>
              <a:rPr dirty="0" spc="-35"/>
              <a:t> </a:t>
            </a:r>
            <a:r>
              <a:rPr dirty="0"/>
              <a:t>global</a:t>
            </a:r>
            <a:r>
              <a:rPr dirty="0" spc="-30"/>
              <a:t> </a:t>
            </a:r>
            <a:r>
              <a:rPr dirty="0"/>
              <a:t>acontece</a:t>
            </a:r>
            <a:r>
              <a:rPr dirty="0" spc="5"/>
              <a:t> </a:t>
            </a:r>
            <a:r>
              <a:rPr dirty="0"/>
              <a:t>no nível</a:t>
            </a:r>
            <a:r>
              <a:rPr dirty="0" spc="-40"/>
              <a:t> </a:t>
            </a:r>
            <a:r>
              <a:rPr dirty="0"/>
              <a:t>doméstico.</a:t>
            </a:r>
            <a:r>
              <a:rPr dirty="0" spc="-25"/>
              <a:t> </a:t>
            </a:r>
            <a:r>
              <a:rPr dirty="0" spc="-20"/>
              <a:t>Isso</a:t>
            </a:r>
            <a:r>
              <a:rPr dirty="0" spc="500"/>
              <a:t> </a:t>
            </a:r>
            <a:r>
              <a:rPr dirty="0"/>
              <a:t>significa</a:t>
            </a:r>
            <a:r>
              <a:rPr dirty="0" spc="-40"/>
              <a:t> </a:t>
            </a:r>
            <a:r>
              <a:rPr dirty="0"/>
              <a:t>que,</a:t>
            </a:r>
            <a:r>
              <a:rPr dirty="0" spc="-20"/>
              <a:t> </a:t>
            </a:r>
            <a:r>
              <a:rPr dirty="0"/>
              <a:t>diariamente,</a:t>
            </a:r>
            <a:r>
              <a:rPr dirty="0" spc="5"/>
              <a:t> </a:t>
            </a:r>
            <a:r>
              <a:rPr dirty="0"/>
              <a:t>as famílias</a:t>
            </a:r>
            <a:r>
              <a:rPr dirty="0" spc="-10"/>
              <a:t> </a:t>
            </a:r>
            <a:r>
              <a:rPr dirty="0"/>
              <a:t>descartam</a:t>
            </a:r>
            <a:r>
              <a:rPr dirty="0" spc="-40"/>
              <a:t> </a:t>
            </a:r>
            <a:r>
              <a:rPr dirty="0"/>
              <a:t>o</a:t>
            </a:r>
            <a:r>
              <a:rPr dirty="0" spc="-20"/>
              <a:t> </a:t>
            </a:r>
            <a:r>
              <a:rPr dirty="0" spc="-10"/>
              <a:t>equivalente</a:t>
            </a:r>
            <a:r>
              <a:rPr dirty="0" spc="-25"/>
              <a:t> </a:t>
            </a:r>
            <a:r>
              <a:rPr dirty="0"/>
              <a:t>a</a:t>
            </a:r>
            <a:r>
              <a:rPr dirty="0" spc="-50"/>
              <a:t> </a:t>
            </a:r>
            <a:r>
              <a:rPr dirty="0"/>
              <a:t>1</a:t>
            </a:r>
            <a:r>
              <a:rPr dirty="0" spc="-5"/>
              <a:t> </a:t>
            </a:r>
            <a:r>
              <a:rPr dirty="0"/>
              <a:t>bilhão</a:t>
            </a:r>
            <a:r>
              <a:rPr dirty="0" spc="-15"/>
              <a:t> </a:t>
            </a:r>
            <a:r>
              <a:rPr dirty="0"/>
              <a:t>de </a:t>
            </a:r>
            <a:r>
              <a:rPr dirty="0" spc="-10"/>
              <a:t>refeições,</a:t>
            </a:r>
            <a:r>
              <a:rPr dirty="0" spc="500"/>
              <a:t> </a:t>
            </a:r>
            <a:r>
              <a:rPr dirty="0"/>
              <a:t>enquanto</a:t>
            </a:r>
            <a:r>
              <a:rPr dirty="0" spc="-45"/>
              <a:t> </a:t>
            </a:r>
            <a:r>
              <a:rPr dirty="0"/>
              <a:t>783</a:t>
            </a:r>
            <a:r>
              <a:rPr dirty="0" spc="-35"/>
              <a:t> </a:t>
            </a:r>
            <a:r>
              <a:rPr dirty="0"/>
              <a:t>milhões</a:t>
            </a:r>
            <a:r>
              <a:rPr dirty="0" spc="-30"/>
              <a:t> </a:t>
            </a:r>
            <a:r>
              <a:rPr dirty="0"/>
              <a:t>de</a:t>
            </a:r>
            <a:r>
              <a:rPr dirty="0" spc="-15"/>
              <a:t> </a:t>
            </a:r>
            <a:r>
              <a:rPr dirty="0"/>
              <a:t>pessoas</a:t>
            </a:r>
            <a:r>
              <a:rPr dirty="0" spc="-50"/>
              <a:t> </a:t>
            </a:r>
            <a:r>
              <a:rPr dirty="0"/>
              <a:t>passam</a:t>
            </a:r>
            <a:r>
              <a:rPr dirty="0" spc="-25"/>
              <a:t> </a:t>
            </a:r>
            <a:r>
              <a:rPr dirty="0"/>
              <a:t>fome,</a:t>
            </a:r>
            <a:r>
              <a:rPr dirty="0" spc="-30"/>
              <a:t> </a:t>
            </a:r>
            <a:r>
              <a:rPr dirty="0"/>
              <a:t>tornando</a:t>
            </a:r>
            <a:r>
              <a:rPr dirty="0" spc="-20"/>
              <a:t> </a:t>
            </a:r>
            <a:r>
              <a:rPr dirty="0"/>
              <a:t>a</a:t>
            </a:r>
            <a:r>
              <a:rPr dirty="0" spc="-40"/>
              <a:t> </a:t>
            </a:r>
            <a:r>
              <a:rPr dirty="0"/>
              <a:t>tecnologia</a:t>
            </a:r>
            <a:r>
              <a:rPr dirty="0" spc="-10"/>
              <a:t> </a:t>
            </a:r>
            <a:r>
              <a:rPr dirty="0"/>
              <a:t>de</a:t>
            </a:r>
            <a:r>
              <a:rPr dirty="0" spc="-10"/>
              <a:t> </a:t>
            </a:r>
            <a:r>
              <a:rPr dirty="0"/>
              <a:t>apoio</a:t>
            </a:r>
            <a:r>
              <a:rPr dirty="0" spc="-25"/>
              <a:t> ao</a:t>
            </a:r>
            <a:r>
              <a:rPr dirty="0" spc="500"/>
              <a:t> </a:t>
            </a:r>
            <a:r>
              <a:rPr dirty="0"/>
              <a:t>consumidor</a:t>
            </a:r>
            <a:r>
              <a:rPr dirty="0" spc="-20"/>
              <a:t> </a:t>
            </a:r>
            <a:r>
              <a:rPr dirty="0"/>
              <a:t>uma</a:t>
            </a:r>
            <a:r>
              <a:rPr dirty="0" spc="-15"/>
              <a:t> </a:t>
            </a:r>
            <a:r>
              <a:rPr dirty="0"/>
              <a:t>ferramenta</a:t>
            </a:r>
            <a:r>
              <a:rPr dirty="0" spc="-30"/>
              <a:t> </a:t>
            </a:r>
            <a:r>
              <a:rPr dirty="0" spc="-10"/>
              <a:t>indispensável</a:t>
            </a:r>
            <a:r>
              <a:rPr dirty="0" spc="-25"/>
              <a:t> </a:t>
            </a:r>
            <a:r>
              <a:rPr dirty="0"/>
              <a:t>para reverter</a:t>
            </a:r>
            <a:r>
              <a:rPr dirty="0" spc="-20"/>
              <a:t> </a:t>
            </a:r>
            <a:r>
              <a:rPr dirty="0"/>
              <a:t>esse</a:t>
            </a:r>
            <a:r>
              <a:rPr dirty="0" spc="25"/>
              <a:t> </a:t>
            </a:r>
            <a:r>
              <a:rPr dirty="0" spc="-10"/>
              <a:t>cenário.</a:t>
            </a:r>
          </a:p>
          <a:p>
            <a:pPr>
              <a:lnSpc>
                <a:spcPct val="100000"/>
              </a:lnSpc>
            </a:pPr>
          </a:p>
          <a:p>
            <a:pPr marL="12700">
              <a:lnSpc>
                <a:spcPts val="1065"/>
              </a:lnSpc>
            </a:pPr>
            <a:r>
              <a:rPr dirty="0" spc="-10"/>
              <a:t>Fonte:</a:t>
            </a:r>
          </a:p>
          <a:p>
            <a:pPr marL="297815" indent="-285115">
              <a:lnSpc>
                <a:spcPts val="1065"/>
              </a:lnSpc>
              <a:buFont typeface="Arial MT"/>
              <a:buChar char="•"/>
              <a:tabLst>
                <a:tab pos="297815" algn="l"/>
              </a:tabLst>
            </a:pPr>
            <a:r>
              <a:rPr dirty="0"/>
              <a:t>Organização:</a:t>
            </a:r>
            <a:r>
              <a:rPr dirty="0" spc="-15"/>
              <a:t> </a:t>
            </a:r>
            <a:r>
              <a:rPr dirty="0"/>
              <a:t>PNUMA</a:t>
            </a:r>
            <a:r>
              <a:rPr dirty="0" spc="-50"/>
              <a:t> </a:t>
            </a:r>
            <a:r>
              <a:rPr dirty="0"/>
              <a:t>(Programa</a:t>
            </a:r>
            <a:r>
              <a:rPr dirty="0" spc="-25"/>
              <a:t> </a:t>
            </a:r>
            <a:r>
              <a:rPr dirty="0"/>
              <a:t>das</a:t>
            </a:r>
            <a:r>
              <a:rPr dirty="0" spc="-20"/>
              <a:t> </a:t>
            </a:r>
            <a:r>
              <a:rPr dirty="0"/>
              <a:t>Nações</a:t>
            </a:r>
            <a:r>
              <a:rPr dirty="0" spc="-30"/>
              <a:t> </a:t>
            </a:r>
            <a:r>
              <a:rPr dirty="0"/>
              <a:t>Unidas</a:t>
            </a:r>
            <a:r>
              <a:rPr dirty="0" spc="-40"/>
              <a:t> </a:t>
            </a:r>
            <a:r>
              <a:rPr dirty="0"/>
              <a:t>para</a:t>
            </a:r>
            <a:r>
              <a:rPr dirty="0" spc="25"/>
              <a:t> </a:t>
            </a:r>
            <a:r>
              <a:rPr dirty="0"/>
              <a:t>o</a:t>
            </a:r>
            <a:r>
              <a:rPr dirty="0" spc="-10"/>
              <a:t> </a:t>
            </a:r>
            <a:r>
              <a:rPr dirty="0"/>
              <a:t>Meio</a:t>
            </a:r>
            <a:r>
              <a:rPr dirty="0" spc="-15"/>
              <a:t> </a:t>
            </a:r>
            <a:r>
              <a:rPr dirty="0" spc="-10"/>
              <a:t>Ambiente)</a:t>
            </a:r>
            <a:r>
              <a:rPr dirty="0" spc="-35"/>
              <a:t> </a:t>
            </a:r>
            <a:r>
              <a:rPr dirty="0" spc="-50"/>
              <a:t>/</a:t>
            </a:r>
          </a:p>
          <a:p>
            <a:pPr marL="298450">
              <a:lnSpc>
                <a:spcPct val="100000"/>
              </a:lnSpc>
              <a:spcBef>
                <a:spcPts val="50"/>
              </a:spcBef>
            </a:pPr>
            <a:r>
              <a:rPr dirty="0" spc="-10"/>
              <a:t>UNEP.</a:t>
            </a:r>
          </a:p>
          <a:p>
            <a:pPr marL="298450" marR="5080" indent="-285750">
              <a:lnSpc>
                <a:spcPct val="104400"/>
              </a:lnSpc>
              <a:spcBef>
                <a:spcPts val="975"/>
              </a:spcBef>
              <a:buFont typeface="Arial MT"/>
              <a:buChar char="•"/>
              <a:tabLst>
                <a:tab pos="298450" algn="l"/>
              </a:tabLst>
            </a:pPr>
            <a:r>
              <a:rPr dirty="0"/>
              <a:t>Documento:</a:t>
            </a:r>
            <a:r>
              <a:rPr dirty="0" spc="-50"/>
              <a:t> </a:t>
            </a:r>
            <a:r>
              <a:rPr dirty="0"/>
              <a:t>Food</a:t>
            </a:r>
            <a:r>
              <a:rPr dirty="0" spc="-25"/>
              <a:t> </a:t>
            </a:r>
            <a:r>
              <a:rPr dirty="0"/>
              <a:t>Waste</a:t>
            </a:r>
            <a:r>
              <a:rPr dirty="0" spc="-5"/>
              <a:t> </a:t>
            </a:r>
            <a:r>
              <a:rPr dirty="0" spc="-10"/>
              <a:t>Index</a:t>
            </a:r>
            <a:r>
              <a:rPr dirty="0" spc="-20"/>
              <a:t> </a:t>
            </a:r>
            <a:r>
              <a:rPr dirty="0"/>
              <a:t>Report</a:t>
            </a:r>
            <a:r>
              <a:rPr dirty="0" spc="-60"/>
              <a:t> </a:t>
            </a:r>
            <a:r>
              <a:rPr dirty="0"/>
              <a:t>2024</a:t>
            </a:r>
            <a:r>
              <a:rPr dirty="0" spc="-15"/>
              <a:t> </a:t>
            </a:r>
            <a:r>
              <a:rPr dirty="0"/>
              <a:t>(Relatório do Índice</a:t>
            </a:r>
            <a:r>
              <a:rPr dirty="0" spc="-50"/>
              <a:t> </a:t>
            </a:r>
            <a:r>
              <a:rPr dirty="0"/>
              <a:t>de Desperdício</a:t>
            </a:r>
            <a:r>
              <a:rPr dirty="0" spc="-50"/>
              <a:t> </a:t>
            </a:r>
            <a:r>
              <a:rPr dirty="0" spc="-25"/>
              <a:t>de</a:t>
            </a:r>
            <a:r>
              <a:rPr dirty="0" spc="500"/>
              <a:t> </a:t>
            </a:r>
            <a:r>
              <a:rPr dirty="0" spc="-10"/>
              <a:t>Alimentos</a:t>
            </a:r>
            <a:r>
              <a:rPr dirty="0" spc="30"/>
              <a:t> </a:t>
            </a:r>
            <a:r>
              <a:rPr dirty="0" spc="-10"/>
              <a:t>2024).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5310" y="1307782"/>
            <a:ext cx="3924935" cy="26606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Desperdício</a:t>
            </a:r>
            <a:r>
              <a:rPr dirty="0" spc="165"/>
              <a:t> </a:t>
            </a:r>
            <a:r>
              <a:rPr dirty="0"/>
              <a:t>em</a:t>
            </a:r>
            <a:r>
              <a:rPr dirty="0" spc="105"/>
              <a:t> </a:t>
            </a:r>
            <a:r>
              <a:rPr dirty="0"/>
              <a:t>Meio</a:t>
            </a:r>
            <a:r>
              <a:rPr dirty="0" spc="175"/>
              <a:t> </a:t>
            </a:r>
            <a:r>
              <a:rPr dirty="0"/>
              <a:t>à</a:t>
            </a:r>
            <a:r>
              <a:rPr dirty="0" spc="80"/>
              <a:t> </a:t>
            </a:r>
            <a:r>
              <a:rPr dirty="0"/>
              <a:t>Insegurança</a:t>
            </a:r>
            <a:r>
              <a:rPr dirty="0" spc="175"/>
              <a:t> </a:t>
            </a:r>
            <a:r>
              <a:rPr dirty="0" spc="-10"/>
              <a:t>Alimentar</a:t>
            </a:r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4450" y="2038730"/>
            <a:ext cx="700087" cy="613918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1337310" y="2801873"/>
            <a:ext cx="654050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b="1">
                <a:solidFill>
                  <a:srgbClr val="FF4D00"/>
                </a:solidFill>
                <a:latin typeface="Calibri"/>
                <a:cs typeface="Calibri"/>
              </a:rPr>
              <a:t>Onde</a:t>
            </a:r>
            <a:r>
              <a:rPr dirty="0" sz="750" spc="6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F4D00"/>
                </a:solidFill>
                <a:latin typeface="Calibri"/>
                <a:cs typeface="Calibri"/>
              </a:rPr>
              <a:t>Acontece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1155382" y="3074098"/>
            <a:ext cx="1024890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b="1">
                <a:solidFill>
                  <a:srgbClr val="F1F1F1"/>
                </a:solidFill>
                <a:latin typeface="Calibri"/>
                <a:cs typeface="Calibri"/>
              </a:rPr>
              <a:t>Domicílios</a:t>
            </a:r>
            <a:r>
              <a:rPr dirty="0" sz="950" spc="1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950" b="1">
                <a:solidFill>
                  <a:srgbClr val="F1F1F1"/>
                </a:solidFill>
                <a:latin typeface="Calibri"/>
                <a:cs typeface="Calibri"/>
              </a:rPr>
              <a:t>e</a:t>
            </a:r>
            <a:r>
              <a:rPr dirty="0" sz="950" spc="7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950" spc="-10" b="1">
                <a:solidFill>
                  <a:srgbClr val="F1F1F1"/>
                </a:solidFill>
                <a:latin typeface="Calibri"/>
                <a:cs typeface="Calibri"/>
              </a:rPr>
              <a:t>Varejo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399732" y="3330414"/>
            <a:ext cx="2538095" cy="34925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7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Grande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parte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do</a:t>
            </a:r>
            <a:r>
              <a:rPr dirty="0" sz="750" spc="-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desperdício</a:t>
            </a:r>
            <a:r>
              <a:rPr dirty="0" sz="75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ocorre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em</a:t>
            </a:r>
            <a:r>
              <a:rPr dirty="0" sz="750" spc="-9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domicílios,</a:t>
            </a:r>
            <a:r>
              <a:rPr dirty="0" sz="75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além</a:t>
            </a:r>
            <a:r>
              <a:rPr dirty="0" sz="750" spc="-9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perdas</a:t>
            </a:r>
            <a:endParaRPr sz="7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significativas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em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varejo</a:t>
            </a:r>
            <a:r>
              <a:rPr dirty="0" sz="750" spc="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serviços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alimentação.</a:t>
            </a:r>
            <a:endParaRPr sz="750">
              <a:latin typeface="Calibri"/>
              <a:cs typeface="Calibri"/>
            </a:endParaRPr>
          </a:p>
        </p:txBody>
      </p:sp>
      <p:pic>
        <p:nvPicPr>
          <p:cNvPr id="7" name="object 7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9575" y="2038730"/>
            <a:ext cx="700087" cy="613918"/>
          </a:xfrm>
          <a:prstGeom prst="rect">
            <a:avLst/>
          </a:prstGeom>
        </p:spPr>
      </p:pic>
      <p:sp>
        <p:nvSpPr>
          <p:cNvPr id="8" name="object 8" descr=""/>
          <p:cNvSpPr txBox="1"/>
          <p:nvPr/>
        </p:nvSpPr>
        <p:spPr>
          <a:xfrm>
            <a:off x="4321809" y="2801873"/>
            <a:ext cx="50482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b="1">
                <a:solidFill>
                  <a:srgbClr val="FF4D00"/>
                </a:solidFill>
                <a:latin typeface="Calibri"/>
                <a:cs typeface="Calibri"/>
              </a:rPr>
              <a:t>O</a:t>
            </a:r>
            <a:r>
              <a:rPr dirty="0" sz="750" spc="-2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F4D00"/>
                </a:solidFill>
                <a:latin typeface="Calibri"/>
                <a:cs typeface="Calibri"/>
              </a:rPr>
              <a:t>Paradoxo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4052315" y="3074098"/>
            <a:ext cx="1043940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b="1">
                <a:solidFill>
                  <a:srgbClr val="F1F1F1"/>
                </a:solidFill>
                <a:latin typeface="Calibri"/>
                <a:cs typeface="Calibri"/>
              </a:rPr>
              <a:t>Fome</a:t>
            </a:r>
            <a:r>
              <a:rPr dirty="0" sz="950" spc="-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950" b="1">
                <a:solidFill>
                  <a:srgbClr val="F1F1F1"/>
                </a:solidFill>
                <a:latin typeface="Calibri"/>
                <a:cs typeface="Calibri"/>
              </a:rPr>
              <a:t>e</a:t>
            </a:r>
            <a:r>
              <a:rPr dirty="0" sz="950" spc="8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950" spc="-10" b="1">
                <a:solidFill>
                  <a:srgbClr val="F1F1F1"/>
                </a:solidFill>
                <a:latin typeface="Calibri"/>
                <a:cs typeface="Calibri"/>
              </a:rPr>
              <a:t>Desperdício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3270503" y="3330414"/>
            <a:ext cx="2613660" cy="34925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70"/>
              </a:spcBef>
            </a:pP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Bilhões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toneladas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são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descartadas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enquanto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 centenas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milhões</a:t>
            </a:r>
            <a:endParaRPr sz="7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pessoas</a:t>
            </a:r>
            <a:r>
              <a:rPr dirty="0" sz="750" spc="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enfrentam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fome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insegurança</a:t>
            </a:r>
            <a:r>
              <a:rPr dirty="0" sz="750" spc="-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alimentar</a:t>
            </a:r>
            <a:r>
              <a:rPr dirty="0" sz="750" spc="-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crônica.</a:t>
            </a:r>
            <a:endParaRPr sz="750">
              <a:latin typeface="Calibri"/>
              <a:cs typeface="Calibri"/>
            </a:endParaRPr>
          </a:p>
        </p:txBody>
      </p:sp>
      <p:pic>
        <p:nvPicPr>
          <p:cNvPr id="11" name="object 11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24700" y="2038730"/>
            <a:ext cx="700087" cy="613918"/>
          </a:xfrm>
          <a:prstGeom prst="rect">
            <a:avLst/>
          </a:prstGeom>
        </p:spPr>
      </p:pic>
      <p:sp>
        <p:nvSpPr>
          <p:cNvPr id="12" name="object 12" descr=""/>
          <p:cNvSpPr txBox="1"/>
          <p:nvPr/>
        </p:nvSpPr>
        <p:spPr>
          <a:xfrm>
            <a:off x="7179056" y="2801873"/>
            <a:ext cx="606425" cy="139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 b="1">
                <a:solidFill>
                  <a:srgbClr val="FF4D00"/>
                </a:solidFill>
                <a:latin typeface="Calibri"/>
                <a:cs typeface="Calibri"/>
              </a:rPr>
              <a:t>Oportunidade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6939915" y="3074098"/>
            <a:ext cx="1092835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b="1">
                <a:solidFill>
                  <a:srgbClr val="F1F1F1"/>
                </a:solidFill>
                <a:latin typeface="Calibri"/>
                <a:cs typeface="Calibri"/>
              </a:rPr>
              <a:t>Intervenção</a:t>
            </a:r>
            <a:r>
              <a:rPr dirty="0" sz="950" spc="10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950" spc="-10" b="1">
                <a:solidFill>
                  <a:srgbClr val="F1F1F1"/>
                </a:solidFill>
                <a:latin typeface="Calibri"/>
                <a:cs typeface="Calibri"/>
              </a:rPr>
              <a:t>Possível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4" name="object 14" descr=""/>
          <p:cNvSpPr txBox="1"/>
          <p:nvPr/>
        </p:nvSpPr>
        <p:spPr>
          <a:xfrm>
            <a:off x="6257290" y="3330414"/>
            <a:ext cx="2451100" cy="34925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7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Intervenções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no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comportamento</a:t>
            </a:r>
            <a:r>
              <a:rPr dirty="0" sz="75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do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consumidor</a:t>
            </a:r>
            <a:r>
              <a:rPr dirty="0" sz="750" spc="-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podem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aliviar</a:t>
            </a:r>
            <a:r>
              <a:rPr dirty="0" sz="750" spc="-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5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endParaRPr sz="7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pressão</a:t>
            </a:r>
            <a:r>
              <a:rPr dirty="0" sz="750" spc="-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sobre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750" spc="-7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disponibilidade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alimentos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nas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famílias.</a:t>
            </a:r>
            <a:endParaRPr sz="7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4804" y="670623"/>
            <a:ext cx="3510279" cy="26606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Por</a:t>
            </a:r>
            <a:r>
              <a:rPr dirty="0" spc="125"/>
              <a:t> </a:t>
            </a:r>
            <a:r>
              <a:rPr dirty="0"/>
              <a:t>Que</a:t>
            </a:r>
            <a:r>
              <a:rPr dirty="0" spc="120"/>
              <a:t> </a:t>
            </a:r>
            <a:r>
              <a:rPr dirty="0"/>
              <a:t>Alimentos</a:t>
            </a:r>
            <a:r>
              <a:rPr dirty="0" spc="135"/>
              <a:t> </a:t>
            </a:r>
            <a:r>
              <a:rPr dirty="0"/>
              <a:t>Bons</a:t>
            </a:r>
            <a:r>
              <a:rPr dirty="0" spc="45"/>
              <a:t> </a:t>
            </a:r>
            <a:r>
              <a:rPr dirty="0"/>
              <a:t>São</a:t>
            </a:r>
            <a:r>
              <a:rPr dirty="0" spc="55"/>
              <a:t> </a:t>
            </a:r>
            <a:r>
              <a:rPr dirty="0" spc="-10"/>
              <a:t>Descartados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344804" y="965835"/>
            <a:ext cx="1559560" cy="2667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550" spc="-10" b="1">
                <a:solidFill>
                  <a:srgbClr val="F1F1F1"/>
                </a:solidFill>
                <a:latin typeface="Calibri"/>
                <a:cs typeface="Calibri"/>
              </a:rPr>
              <a:t>Prematuramente?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" name="object 4" descr=""/>
          <p:cNvSpPr/>
          <p:nvPr/>
        </p:nvSpPr>
        <p:spPr>
          <a:xfrm>
            <a:off x="361950" y="15430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lnTo>
                  <a:pt x="97716" y="7287"/>
                </a:lnTo>
                <a:lnTo>
                  <a:pt x="58495" y="27578"/>
                </a:lnTo>
                <a:lnTo>
                  <a:pt x="27567" y="58512"/>
                </a:lnTo>
                <a:lnTo>
                  <a:pt x="7284" y="97731"/>
                </a:lnTo>
                <a:lnTo>
                  <a:pt x="0" y="142875"/>
                </a:lnTo>
                <a:lnTo>
                  <a:pt x="7284" y="188018"/>
                </a:lnTo>
                <a:lnTo>
                  <a:pt x="27567" y="227237"/>
                </a:lnTo>
                <a:lnTo>
                  <a:pt x="58495" y="258171"/>
                </a:lnTo>
                <a:lnTo>
                  <a:pt x="97716" y="278462"/>
                </a:lnTo>
                <a:lnTo>
                  <a:pt x="142875" y="285750"/>
                </a:lnTo>
                <a:lnTo>
                  <a:pt x="188033" y="278462"/>
                </a:lnTo>
                <a:lnTo>
                  <a:pt x="227254" y="258171"/>
                </a:lnTo>
                <a:lnTo>
                  <a:pt x="258182" y="227237"/>
                </a:lnTo>
                <a:lnTo>
                  <a:pt x="278465" y="188018"/>
                </a:lnTo>
                <a:lnTo>
                  <a:pt x="285750" y="142875"/>
                </a:lnTo>
                <a:lnTo>
                  <a:pt x="278465" y="97731"/>
                </a:lnTo>
                <a:lnTo>
                  <a:pt x="258182" y="58512"/>
                </a:lnTo>
                <a:lnTo>
                  <a:pt x="227254" y="27578"/>
                </a:lnTo>
                <a:lnTo>
                  <a:pt x="188033" y="7287"/>
                </a:lnTo>
                <a:lnTo>
                  <a:pt x="142875" y="0"/>
                </a:lnTo>
                <a:close/>
              </a:path>
            </a:pathLst>
          </a:custGeom>
          <a:solidFill>
            <a:srgbClr val="FF4D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 descr=""/>
          <p:cNvSpPr txBox="1"/>
          <p:nvPr/>
        </p:nvSpPr>
        <p:spPr>
          <a:xfrm>
            <a:off x="456247" y="1602041"/>
            <a:ext cx="88900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0" b="1">
                <a:solidFill>
                  <a:srgbClr val="1A1A1A"/>
                </a:solidFill>
                <a:latin typeface="Calibri"/>
                <a:cs typeface="Calibri"/>
              </a:rPr>
              <a:t>1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702309" y="1542478"/>
            <a:ext cx="3699510" cy="5156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Percepção</a:t>
            </a:r>
            <a:r>
              <a:rPr dirty="0" sz="750" spc="11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Errada</a:t>
            </a:r>
            <a:r>
              <a:rPr dirty="0" sz="750" spc="5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de</a:t>
            </a:r>
            <a:r>
              <a:rPr dirty="0" sz="750" spc="15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Validade</a:t>
            </a:r>
            <a:endParaRPr sz="750">
              <a:latin typeface="Calibri"/>
              <a:cs typeface="Calibri"/>
            </a:endParaRPr>
          </a:p>
          <a:p>
            <a:pPr marL="12700" marR="5080">
              <a:lnSpc>
                <a:spcPct val="133700"/>
              </a:lnSpc>
              <a:spcBef>
                <a:spcPts val="550"/>
              </a:spcBef>
            </a:pP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Consumidores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não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conseguem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distinguir</a:t>
            </a:r>
            <a:r>
              <a:rPr dirty="0" sz="75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sinais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reais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deterioração</a:t>
            </a:r>
            <a:r>
              <a:rPr dirty="0" sz="75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descartam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alimentos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ainda</a:t>
            </a:r>
            <a:r>
              <a:rPr dirty="0" sz="750" spc="50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bons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por</a:t>
            </a:r>
            <a:r>
              <a:rPr dirty="0" sz="750" spc="-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falta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informação.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7" name="object 7" descr=""/>
          <p:cNvSpPr/>
          <p:nvPr/>
        </p:nvSpPr>
        <p:spPr>
          <a:xfrm>
            <a:off x="361950" y="22383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lnTo>
                  <a:pt x="97716" y="7287"/>
                </a:lnTo>
                <a:lnTo>
                  <a:pt x="58495" y="27578"/>
                </a:lnTo>
                <a:lnTo>
                  <a:pt x="27567" y="58512"/>
                </a:lnTo>
                <a:lnTo>
                  <a:pt x="7284" y="97731"/>
                </a:lnTo>
                <a:lnTo>
                  <a:pt x="0" y="142875"/>
                </a:lnTo>
                <a:lnTo>
                  <a:pt x="7284" y="188018"/>
                </a:lnTo>
                <a:lnTo>
                  <a:pt x="27567" y="227237"/>
                </a:lnTo>
                <a:lnTo>
                  <a:pt x="58495" y="258171"/>
                </a:lnTo>
                <a:lnTo>
                  <a:pt x="97716" y="278462"/>
                </a:lnTo>
                <a:lnTo>
                  <a:pt x="142875" y="285750"/>
                </a:lnTo>
                <a:lnTo>
                  <a:pt x="188033" y="278462"/>
                </a:lnTo>
                <a:lnTo>
                  <a:pt x="227254" y="258171"/>
                </a:lnTo>
                <a:lnTo>
                  <a:pt x="258182" y="227237"/>
                </a:lnTo>
                <a:lnTo>
                  <a:pt x="278465" y="188018"/>
                </a:lnTo>
                <a:lnTo>
                  <a:pt x="285750" y="142875"/>
                </a:lnTo>
                <a:lnTo>
                  <a:pt x="278465" y="97731"/>
                </a:lnTo>
                <a:lnTo>
                  <a:pt x="258182" y="58512"/>
                </a:lnTo>
                <a:lnTo>
                  <a:pt x="227254" y="27578"/>
                </a:lnTo>
                <a:lnTo>
                  <a:pt x="188033" y="7287"/>
                </a:lnTo>
                <a:lnTo>
                  <a:pt x="142875" y="0"/>
                </a:lnTo>
                <a:close/>
              </a:path>
            </a:pathLst>
          </a:custGeom>
          <a:solidFill>
            <a:srgbClr val="FF4D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 descr=""/>
          <p:cNvSpPr txBox="1"/>
          <p:nvPr/>
        </p:nvSpPr>
        <p:spPr>
          <a:xfrm>
            <a:off x="456247" y="2294572"/>
            <a:ext cx="88900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0" b="1">
                <a:solidFill>
                  <a:srgbClr val="1A1A1A"/>
                </a:solidFill>
                <a:latin typeface="Calibri"/>
                <a:cs typeface="Calibri"/>
              </a:rPr>
              <a:t>2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702309" y="2234882"/>
            <a:ext cx="768985" cy="1403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Critérios</a:t>
            </a:r>
            <a:r>
              <a:rPr dirty="0" sz="750" spc="8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Estéticos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702309" y="2419223"/>
            <a:ext cx="3386454" cy="3314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3700"/>
              </a:lnSpc>
              <a:spcBef>
                <a:spcPts val="10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Frutas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"imperfeitas"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são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descartadas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no</a:t>
            </a:r>
            <a:r>
              <a:rPr dirty="0" sz="75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varejo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apesar</a:t>
            </a:r>
            <a:r>
              <a:rPr dirty="0" sz="750" spc="-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serem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totalmente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comestíveis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50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nutritivas.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11" name="object 11" descr=""/>
          <p:cNvSpPr/>
          <p:nvPr/>
        </p:nvSpPr>
        <p:spPr>
          <a:xfrm>
            <a:off x="361950" y="29241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lnTo>
                  <a:pt x="97716" y="7287"/>
                </a:lnTo>
                <a:lnTo>
                  <a:pt x="58495" y="27578"/>
                </a:lnTo>
                <a:lnTo>
                  <a:pt x="27567" y="58512"/>
                </a:lnTo>
                <a:lnTo>
                  <a:pt x="7284" y="97731"/>
                </a:lnTo>
                <a:lnTo>
                  <a:pt x="0" y="142875"/>
                </a:lnTo>
                <a:lnTo>
                  <a:pt x="7284" y="188018"/>
                </a:lnTo>
                <a:lnTo>
                  <a:pt x="27567" y="227237"/>
                </a:lnTo>
                <a:lnTo>
                  <a:pt x="58495" y="258171"/>
                </a:lnTo>
                <a:lnTo>
                  <a:pt x="97716" y="278462"/>
                </a:lnTo>
                <a:lnTo>
                  <a:pt x="142875" y="285750"/>
                </a:lnTo>
                <a:lnTo>
                  <a:pt x="188033" y="278462"/>
                </a:lnTo>
                <a:lnTo>
                  <a:pt x="227254" y="258171"/>
                </a:lnTo>
                <a:lnTo>
                  <a:pt x="258182" y="227237"/>
                </a:lnTo>
                <a:lnTo>
                  <a:pt x="278465" y="188018"/>
                </a:lnTo>
                <a:lnTo>
                  <a:pt x="285750" y="142875"/>
                </a:lnTo>
                <a:lnTo>
                  <a:pt x="278465" y="97731"/>
                </a:lnTo>
                <a:lnTo>
                  <a:pt x="258182" y="58512"/>
                </a:lnTo>
                <a:lnTo>
                  <a:pt x="227254" y="27578"/>
                </a:lnTo>
                <a:lnTo>
                  <a:pt x="188033" y="7287"/>
                </a:lnTo>
                <a:lnTo>
                  <a:pt x="142875" y="0"/>
                </a:lnTo>
                <a:close/>
              </a:path>
            </a:pathLst>
          </a:custGeom>
          <a:solidFill>
            <a:srgbClr val="FF4D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 descr=""/>
          <p:cNvSpPr txBox="1"/>
          <p:nvPr/>
        </p:nvSpPr>
        <p:spPr>
          <a:xfrm>
            <a:off x="456247" y="2986976"/>
            <a:ext cx="88900" cy="1746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950" spc="-50" b="1">
                <a:solidFill>
                  <a:srgbClr val="1A1A1A"/>
                </a:solidFill>
                <a:latin typeface="Calibri"/>
                <a:cs typeface="Calibri"/>
              </a:rPr>
              <a:t>3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702309" y="2927604"/>
            <a:ext cx="3596004" cy="514984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Armazenamento</a:t>
            </a:r>
            <a:r>
              <a:rPr dirty="0" sz="750" spc="204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Inadequado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Falta</a:t>
            </a:r>
            <a:r>
              <a:rPr dirty="0" sz="750" spc="-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informação sobre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técnicas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corretas</a:t>
            </a:r>
            <a:r>
              <a:rPr dirty="0" sz="750" spc="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armazenamento</a:t>
            </a:r>
            <a:r>
              <a:rPr dirty="0" sz="750" spc="7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leva</a:t>
            </a:r>
            <a:r>
              <a:rPr dirty="0" sz="750" spc="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à</a:t>
            </a:r>
            <a:r>
              <a:rPr dirty="0" sz="750" spc="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deterioração</a:t>
            </a:r>
            <a:r>
              <a:rPr dirty="0" sz="7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precoce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alimentos.</a:t>
            </a:r>
            <a:endParaRPr sz="750">
              <a:latin typeface="Calibri"/>
              <a:cs typeface="Calibri"/>
            </a:endParaRPr>
          </a:p>
        </p:txBody>
      </p:sp>
      <p:grpSp>
        <p:nvGrpSpPr>
          <p:cNvPr id="14" name="object 14" descr=""/>
          <p:cNvGrpSpPr/>
          <p:nvPr/>
        </p:nvGrpSpPr>
        <p:grpSpPr>
          <a:xfrm>
            <a:off x="361950" y="3867150"/>
            <a:ext cx="4067175" cy="609600"/>
            <a:chOff x="361950" y="3867150"/>
            <a:chExt cx="4067175" cy="609600"/>
          </a:xfrm>
        </p:grpSpPr>
        <p:sp>
          <p:nvSpPr>
            <p:cNvPr id="15" name="object 15" descr=""/>
            <p:cNvSpPr/>
            <p:nvPr/>
          </p:nvSpPr>
          <p:spPr>
            <a:xfrm>
              <a:off x="361950" y="3867150"/>
              <a:ext cx="4067175" cy="609600"/>
            </a:xfrm>
            <a:custGeom>
              <a:avLst/>
              <a:gdLst/>
              <a:ahLst/>
              <a:cxnLst/>
              <a:rect l="l" t="t" r="r" b="b"/>
              <a:pathLst>
                <a:path w="4067175" h="609600">
                  <a:moveTo>
                    <a:pt x="4067175" y="0"/>
                  </a:moveTo>
                  <a:lnTo>
                    <a:pt x="0" y="0"/>
                  </a:lnTo>
                  <a:lnTo>
                    <a:pt x="0" y="609600"/>
                  </a:lnTo>
                  <a:lnTo>
                    <a:pt x="4067175" y="609600"/>
                  </a:lnTo>
                  <a:lnTo>
                    <a:pt x="4067175" y="0"/>
                  </a:lnTo>
                  <a:close/>
                </a:path>
              </a:pathLst>
            </a:custGeom>
            <a:solidFill>
              <a:srgbClr val="FF4D00">
                <a:alpha val="10195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 descr=""/>
            <p:cNvSpPr/>
            <p:nvPr/>
          </p:nvSpPr>
          <p:spPr>
            <a:xfrm>
              <a:off x="361950" y="3867150"/>
              <a:ext cx="19050" cy="609600"/>
            </a:xfrm>
            <a:custGeom>
              <a:avLst/>
              <a:gdLst/>
              <a:ahLst/>
              <a:cxnLst/>
              <a:rect l="l" t="t" r="r" b="b"/>
              <a:pathLst>
                <a:path w="19050" h="609600">
                  <a:moveTo>
                    <a:pt x="19050" y="0"/>
                  </a:moveTo>
                  <a:lnTo>
                    <a:pt x="0" y="0"/>
                  </a:lnTo>
                  <a:lnTo>
                    <a:pt x="0" y="609600"/>
                  </a:lnTo>
                  <a:lnTo>
                    <a:pt x="19050" y="609600"/>
                  </a:lnTo>
                  <a:lnTo>
                    <a:pt x="19050" y="0"/>
                  </a:lnTo>
                  <a:close/>
                </a:path>
              </a:pathLst>
            </a:custGeom>
            <a:solidFill>
              <a:srgbClr val="FF4D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 descr=""/>
          <p:cNvSpPr txBox="1"/>
          <p:nvPr/>
        </p:nvSpPr>
        <p:spPr>
          <a:xfrm>
            <a:off x="381000" y="4003675"/>
            <a:ext cx="4048125" cy="3238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19380">
              <a:lnSpc>
                <a:spcPct val="100000"/>
              </a:lnSpc>
              <a:spcBef>
                <a:spcPts val="100"/>
              </a:spcBef>
            </a:pPr>
            <a:r>
              <a:rPr dirty="0" sz="600">
                <a:solidFill>
                  <a:srgbClr val="FF4D00"/>
                </a:solidFill>
                <a:latin typeface="Calibri"/>
                <a:cs typeface="Calibri"/>
              </a:rPr>
              <a:t>Foco</a:t>
            </a:r>
            <a:r>
              <a:rPr dirty="0" sz="600" spc="5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>
                <a:solidFill>
                  <a:srgbClr val="FF4D00"/>
                </a:solidFill>
                <a:latin typeface="Calibri"/>
                <a:cs typeface="Calibri"/>
              </a:rPr>
              <a:t>da</a:t>
            </a:r>
            <a:r>
              <a:rPr dirty="0" sz="600" spc="40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spc="-10">
                <a:solidFill>
                  <a:srgbClr val="FF4D00"/>
                </a:solidFill>
                <a:latin typeface="Calibri"/>
                <a:cs typeface="Calibri"/>
              </a:rPr>
              <a:t>Solução</a:t>
            </a:r>
            <a:endParaRPr sz="600">
              <a:latin typeface="Calibri"/>
              <a:cs typeface="Calibri"/>
            </a:endParaRPr>
          </a:p>
          <a:p>
            <a:pPr marL="119380">
              <a:lnSpc>
                <a:spcPct val="100000"/>
              </a:lnSpc>
              <a:spcBef>
                <a:spcPts val="725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Atacar</a:t>
            </a:r>
            <a:r>
              <a:rPr dirty="0" sz="750" spc="5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a</a:t>
            </a:r>
            <a:r>
              <a:rPr dirty="0" sz="750" spc="1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percepção</a:t>
            </a:r>
            <a:r>
              <a:rPr dirty="0" sz="750" spc="7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errada</a:t>
            </a:r>
            <a:r>
              <a:rPr dirty="0" sz="750" spc="10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de</a:t>
            </a:r>
            <a:r>
              <a:rPr dirty="0" sz="750" spc="10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validade</a:t>
            </a:r>
            <a:r>
              <a:rPr dirty="0" sz="750" spc="1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e</a:t>
            </a:r>
            <a:r>
              <a:rPr dirty="0" sz="750" spc="10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o</a:t>
            </a:r>
            <a:r>
              <a:rPr dirty="0" sz="750" spc="7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descarte</a:t>
            </a:r>
            <a:r>
              <a:rPr dirty="0" sz="750" spc="10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prematuro</a:t>
            </a:r>
            <a:endParaRPr sz="750">
              <a:latin typeface="Calibri"/>
              <a:cs typeface="Calibri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4875" y="1143000"/>
            <a:ext cx="4076700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Detecção</a:t>
            </a:r>
            <a:r>
              <a:rPr dirty="0" spc="175"/>
              <a:t> </a:t>
            </a:r>
            <a:r>
              <a:rPr dirty="0"/>
              <a:t>de</a:t>
            </a:r>
            <a:r>
              <a:rPr dirty="0" spc="155"/>
              <a:t> </a:t>
            </a:r>
            <a:r>
              <a:rPr dirty="0"/>
              <a:t>Frescor</a:t>
            </a:r>
            <a:r>
              <a:rPr dirty="0" spc="70"/>
              <a:t> </a:t>
            </a:r>
            <a:r>
              <a:rPr dirty="0"/>
              <a:t>por</a:t>
            </a:r>
            <a:r>
              <a:rPr dirty="0" spc="160"/>
              <a:t> </a:t>
            </a:r>
            <a:r>
              <a:rPr dirty="0"/>
              <a:t>Câmera:</a:t>
            </a:r>
            <a:r>
              <a:rPr dirty="0" spc="40"/>
              <a:t> </a:t>
            </a:r>
            <a:r>
              <a:rPr dirty="0"/>
              <a:t>Uma</a:t>
            </a:r>
            <a:r>
              <a:rPr dirty="0" spc="80"/>
              <a:t> </a:t>
            </a:r>
            <a:r>
              <a:rPr dirty="0"/>
              <a:t>Solução</a:t>
            </a:r>
            <a:r>
              <a:rPr dirty="0" spc="90"/>
              <a:t> </a:t>
            </a:r>
            <a:r>
              <a:rPr dirty="0" spc="-10"/>
              <a:t>Viável</a:t>
            </a:r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" y="866775"/>
            <a:ext cx="4114609" cy="2009648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76775" y="866775"/>
            <a:ext cx="4114673" cy="2009648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344804" y="3157473"/>
            <a:ext cx="1181100" cy="309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600" spc="-10" b="1">
                <a:solidFill>
                  <a:srgbClr val="FF4D00"/>
                </a:solidFill>
                <a:latin typeface="Calibri"/>
                <a:cs typeface="Calibri"/>
              </a:rPr>
              <a:t>Conceito</a:t>
            </a:r>
            <a:endParaRPr sz="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Visão</a:t>
            </a:r>
            <a:r>
              <a:rPr dirty="0" sz="750" spc="11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Computacional</a:t>
            </a:r>
            <a:r>
              <a:rPr dirty="0" sz="750" spc="10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20" b="1">
                <a:solidFill>
                  <a:srgbClr val="F1F1F1"/>
                </a:solidFill>
                <a:latin typeface="Calibri"/>
                <a:cs typeface="Calibri"/>
              </a:rPr>
              <a:t>Móvel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344804" y="3511486"/>
            <a:ext cx="4006215" cy="33147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3700"/>
              </a:lnSpc>
              <a:spcBef>
                <a:spcPts val="10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Uso</a:t>
            </a:r>
            <a:r>
              <a:rPr dirty="0" sz="750" spc="-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de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aplicativos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móveis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para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avaliar</a:t>
            </a:r>
            <a:r>
              <a:rPr dirty="0" sz="75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frescor</a:t>
            </a:r>
            <a:r>
              <a:rPr dirty="0" sz="750" spc="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estágios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maturação</a:t>
            </a:r>
            <a:r>
              <a:rPr dirty="0" sz="750" spc="-3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através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análise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visual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em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tempo</a:t>
            </a:r>
            <a:r>
              <a:rPr dirty="0" sz="750" spc="50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real.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4707001" y="3157473"/>
            <a:ext cx="1163320" cy="309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600" spc="-10" b="1">
                <a:solidFill>
                  <a:srgbClr val="FF4D00"/>
                </a:solidFill>
                <a:latin typeface="Calibri"/>
                <a:cs typeface="Calibri"/>
              </a:rPr>
              <a:t>Viabilidade</a:t>
            </a:r>
            <a:endParaRPr sz="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dirty="0" sz="750" spc="10" b="1">
                <a:solidFill>
                  <a:srgbClr val="F1F1F1"/>
                </a:solidFill>
                <a:latin typeface="Calibri"/>
                <a:cs typeface="Calibri"/>
              </a:rPr>
              <a:t>Tecnicamente</a:t>
            </a:r>
            <a:r>
              <a:rPr dirty="0" sz="750" spc="4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Comprovada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4707001" y="3549586"/>
            <a:ext cx="3467100" cy="1403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Estudos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protótipos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demonstram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boa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acurácia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para</a:t>
            </a:r>
            <a:r>
              <a:rPr dirty="0" sz="750" spc="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uso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doméstico</a:t>
            </a:r>
            <a:r>
              <a:rPr dirty="0" sz="7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em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pontos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 venda.</a:t>
            </a:r>
            <a:endParaRPr sz="750">
              <a:latin typeface="Calibri"/>
              <a:cs typeface="Calibri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4707001" y="3983672"/>
            <a:ext cx="3042920" cy="5327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600" spc="-10" b="1">
                <a:solidFill>
                  <a:srgbClr val="FF4D00"/>
                </a:solidFill>
                <a:latin typeface="Calibri"/>
                <a:cs typeface="Calibri"/>
              </a:rPr>
              <a:t>Objetivo</a:t>
            </a:r>
            <a:endParaRPr sz="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Ferrame</a:t>
            </a:r>
            <a:r>
              <a:rPr dirty="0" sz="750" spc="-7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b="1">
                <a:solidFill>
                  <a:srgbClr val="F1F1F1"/>
                </a:solidFill>
                <a:latin typeface="Calibri"/>
                <a:cs typeface="Calibri"/>
              </a:rPr>
              <a:t>nta</a:t>
            </a:r>
            <a:r>
              <a:rPr dirty="0" sz="750" spc="3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750" spc="-10" b="1">
                <a:solidFill>
                  <a:srgbClr val="F1F1F1"/>
                </a:solidFill>
                <a:latin typeface="Calibri"/>
                <a:cs typeface="Calibri"/>
              </a:rPr>
              <a:t>Acessível</a:t>
            </a:r>
            <a:endParaRPr sz="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55"/>
              </a:spcBef>
            </a:pP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Ajudar</a:t>
            </a:r>
            <a:r>
              <a:rPr dirty="0" sz="750" spc="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o</a:t>
            </a:r>
            <a:r>
              <a:rPr dirty="0" sz="750" spc="-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consumidor</a:t>
            </a:r>
            <a:r>
              <a:rPr dirty="0" sz="750" spc="-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7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tomar</a:t>
            </a:r>
            <a:r>
              <a:rPr dirty="0" sz="750" spc="-4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decisões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20">
                <a:solidFill>
                  <a:srgbClr val="DFDFDF"/>
                </a:solidFill>
                <a:latin typeface="Calibri"/>
                <a:cs typeface="Calibri"/>
              </a:rPr>
              <a:t>informadas</a:t>
            </a:r>
            <a:r>
              <a:rPr dirty="0" sz="750">
                <a:solidFill>
                  <a:srgbClr val="DFDFDF"/>
                </a:solidFill>
                <a:latin typeface="Calibri"/>
                <a:cs typeface="Calibri"/>
              </a:rPr>
              <a:t> sobre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descarte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7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750" spc="-10">
                <a:solidFill>
                  <a:srgbClr val="DFDFDF"/>
                </a:solidFill>
                <a:latin typeface="Calibri"/>
                <a:cs typeface="Calibri"/>
              </a:rPr>
              <a:t>alimentos.</a:t>
            </a:r>
            <a:endParaRPr sz="7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Benefícios</a:t>
            </a:r>
            <a:r>
              <a:rPr dirty="0" spc="65"/>
              <a:t> </a:t>
            </a:r>
            <a:r>
              <a:rPr dirty="0"/>
              <a:t>e</a:t>
            </a:r>
            <a:r>
              <a:rPr dirty="0" spc="145"/>
              <a:t> </a:t>
            </a:r>
            <a:r>
              <a:rPr dirty="0"/>
              <a:t>Próximos</a:t>
            </a:r>
            <a:r>
              <a:rPr dirty="0" spc="160"/>
              <a:t> </a:t>
            </a:r>
            <a:r>
              <a:rPr dirty="0" spc="-10"/>
              <a:t>Passos</a:t>
            </a:r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" y="866775"/>
            <a:ext cx="8429625" cy="2143125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344804" y="3290887"/>
            <a:ext cx="972819" cy="1631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0" b="1">
                <a:solidFill>
                  <a:srgbClr val="FF4D00"/>
                </a:solidFill>
                <a:latin typeface="Calibri"/>
                <a:cs typeface="Calibri"/>
              </a:rPr>
              <a:t>Métricas</a:t>
            </a:r>
            <a:r>
              <a:rPr dirty="0" sz="900" spc="-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900" b="1">
                <a:solidFill>
                  <a:srgbClr val="FF4D00"/>
                </a:solidFill>
                <a:latin typeface="Calibri"/>
                <a:cs typeface="Calibri"/>
              </a:rPr>
              <a:t>de</a:t>
            </a:r>
            <a:r>
              <a:rPr dirty="0" sz="900" spc="-2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900" spc="-10" b="1">
                <a:solidFill>
                  <a:srgbClr val="FF4D00"/>
                </a:solidFill>
                <a:latin typeface="Calibri"/>
                <a:cs typeface="Calibri"/>
              </a:rPr>
              <a:t>Sucesso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344804" y="3695001"/>
            <a:ext cx="782955" cy="12890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Redução</a:t>
            </a:r>
            <a:r>
              <a:rPr dirty="0" sz="650" spc="9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do</a:t>
            </a:r>
            <a:r>
              <a:rPr dirty="0" sz="650" spc="-1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Descarte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344804" y="3893184"/>
            <a:ext cx="2741295" cy="12890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Diminuição</a:t>
            </a:r>
            <a:r>
              <a:rPr dirty="0" sz="650" spc="8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percentual</a:t>
            </a:r>
            <a:r>
              <a:rPr dirty="0" sz="650" spc="5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do</a:t>
            </a:r>
            <a:r>
              <a:rPr dirty="0" sz="650" spc="9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descarte doméstico</a:t>
            </a:r>
            <a:r>
              <a:rPr dirty="0" sz="650" spc="9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alimentos ainda</a:t>
            </a:r>
            <a:r>
              <a:rPr dirty="0" sz="65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comestíveis.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344804" y="4142422"/>
            <a:ext cx="2168525" cy="3270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Economia</a:t>
            </a:r>
            <a:r>
              <a:rPr dirty="0" sz="650" spc="9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Financeira</a:t>
            </a:r>
            <a:endParaRPr sz="6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Redução</a:t>
            </a:r>
            <a:r>
              <a:rPr dirty="0" sz="650" spc="5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650" spc="8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gastos</a:t>
            </a:r>
            <a:r>
              <a:rPr dirty="0" sz="650" spc="7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das</a:t>
            </a:r>
            <a:r>
              <a:rPr dirty="0" sz="650" spc="-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famílias</a:t>
            </a:r>
            <a:r>
              <a:rPr dirty="0" sz="6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com</a:t>
            </a:r>
            <a:r>
              <a:rPr dirty="0" sz="6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alimentos</a:t>
            </a:r>
            <a:r>
              <a:rPr dirty="0" sz="650" spc="7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desperdiçados.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344804" y="4589779"/>
            <a:ext cx="1938655" cy="3270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Ganho</a:t>
            </a:r>
            <a:r>
              <a:rPr dirty="0" sz="650" spc="6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Ambiental</a:t>
            </a:r>
            <a:endParaRPr sz="6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kgCO₂e</a:t>
            </a:r>
            <a:r>
              <a:rPr dirty="0" sz="600" spc="4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poupados</a:t>
            </a:r>
            <a:r>
              <a:rPr dirty="0" sz="600" spc="114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por</a:t>
            </a:r>
            <a:r>
              <a:rPr dirty="0" sz="650" spc="1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kg</a:t>
            </a:r>
            <a:r>
              <a:rPr dirty="0" sz="650" spc="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6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alimento</a:t>
            </a:r>
            <a:r>
              <a:rPr dirty="0" sz="650" spc="-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não</a:t>
            </a:r>
            <a:r>
              <a:rPr dirty="0" sz="65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desperdiçado.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4707001" y="3290887"/>
            <a:ext cx="855980" cy="1631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900" spc="-10" b="1">
                <a:solidFill>
                  <a:srgbClr val="FF4D00"/>
                </a:solidFill>
                <a:latin typeface="Calibri"/>
                <a:cs typeface="Calibri"/>
              </a:rPr>
              <a:t>Desafios</a:t>
            </a:r>
            <a:r>
              <a:rPr dirty="0" sz="900" spc="-2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900" spc="-10" b="1">
                <a:solidFill>
                  <a:srgbClr val="FF4D00"/>
                </a:solidFill>
                <a:latin typeface="Calibri"/>
                <a:cs typeface="Calibri"/>
              </a:rPr>
              <a:t>Técnicos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4707001" y="3695001"/>
            <a:ext cx="735330" cy="12890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Variabilidade</a:t>
            </a:r>
            <a:r>
              <a:rPr dirty="0" sz="650" spc="8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Visual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11" name="object 11" descr=""/>
          <p:cNvSpPr txBox="1"/>
          <p:nvPr/>
        </p:nvSpPr>
        <p:spPr>
          <a:xfrm>
            <a:off x="4707001" y="3893184"/>
            <a:ext cx="3007995" cy="12890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Iluminação,</a:t>
            </a:r>
            <a:r>
              <a:rPr dirty="0" sz="65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ângulo,</a:t>
            </a:r>
            <a:r>
              <a:rPr dirty="0" sz="65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câmera,</a:t>
            </a:r>
            <a:r>
              <a:rPr dirty="0" sz="650" spc="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variedade</a:t>
            </a:r>
            <a:r>
              <a:rPr dirty="0" sz="650" spc="10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de</a:t>
            </a:r>
            <a:r>
              <a:rPr dirty="0" sz="650" spc="1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frutas exigem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dataset</a:t>
            </a:r>
            <a:r>
              <a:rPr dirty="0" sz="600" spc="-1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gra</a:t>
            </a:r>
            <a:r>
              <a:rPr dirty="0" sz="600" spc="-3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nde</a:t>
            </a:r>
            <a:r>
              <a:rPr dirty="0" sz="600" spc="60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b="1">
                <a:solidFill>
                  <a:srgbClr val="FF4D00"/>
                </a:solidFill>
                <a:latin typeface="Calibri"/>
                <a:cs typeface="Calibri"/>
              </a:rPr>
              <a:t>e</a:t>
            </a:r>
            <a:r>
              <a:rPr dirty="0" sz="600" spc="65" b="1">
                <a:solidFill>
                  <a:srgbClr val="FF4D00"/>
                </a:solidFill>
                <a:latin typeface="Calibri"/>
                <a:cs typeface="Calibri"/>
              </a:rPr>
              <a:t> </a:t>
            </a:r>
            <a:r>
              <a:rPr dirty="0" sz="600" spc="-10" b="1">
                <a:solidFill>
                  <a:srgbClr val="FF4D00"/>
                </a:solidFill>
                <a:latin typeface="Calibri"/>
                <a:cs typeface="Calibri"/>
              </a:rPr>
              <a:t>diversificado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.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4707001" y="4142422"/>
            <a:ext cx="2017395" cy="3270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Definição</a:t>
            </a:r>
            <a:r>
              <a:rPr dirty="0" sz="650" spc="4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b="1">
                <a:solidFill>
                  <a:srgbClr val="F1F1F1"/>
                </a:solidFill>
                <a:latin typeface="Calibri"/>
                <a:cs typeface="Calibri"/>
              </a:rPr>
              <a:t>de</a:t>
            </a:r>
            <a:r>
              <a:rPr dirty="0" sz="650" spc="6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"Bom"</a:t>
            </a:r>
            <a:endParaRPr sz="6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Avaliação</a:t>
            </a:r>
            <a:r>
              <a:rPr dirty="0" sz="65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visual</a:t>
            </a:r>
            <a:r>
              <a:rPr dirty="0" sz="650" spc="3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não</a:t>
            </a:r>
            <a:r>
              <a:rPr dirty="0" sz="65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captur</a:t>
            </a:r>
            <a:r>
              <a:rPr dirty="0" sz="650" spc="-7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a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riscos</a:t>
            </a:r>
            <a:r>
              <a:rPr dirty="0" sz="650" spc="9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microbianos</a:t>
            </a:r>
            <a:r>
              <a:rPr dirty="0" sz="650" spc="-1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invisíveis.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4707001" y="4589779"/>
            <a:ext cx="2736215" cy="3270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650" spc="10" b="1">
                <a:solidFill>
                  <a:srgbClr val="F1F1F1"/>
                </a:solidFill>
                <a:latin typeface="Calibri"/>
                <a:cs typeface="Calibri"/>
              </a:rPr>
              <a:t>Generalização</a:t>
            </a:r>
            <a:r>
              <a:rPr dirty="0" sz="650" spc="-40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10" b="1">
                <a:solidFill>
                  <a:srgbClr val="F1F1F1"/>
                </a:solidFill>
                <a:latin typeface="Calibri"/>
                <a:cs typeface="Calibri"/>
              </a:rPr>
              <a:t>do</a:t>
            </a:r>
            <a:r>
              <a:rPr dirty="0" sz="650" spc="55" b="1">
                <a:solidFill>
                  <a:srgbClr val="F1F1F1"/>
                </a:solidFill>
                <a:latin typeface="Calibri"/>
                <a:cs typeface="Calibri"/>
              </a:rPr>
              <a:t> </a:t>
            </a:r>
            <a:r>
              <a:rPr dirty="0" sz="650" spc="-10" b="1">
                <a:solidFill>
                  <a:srgbClr val="F1F1F1"/>
                </a:solidFill>
                <a:latin typeface="Calibri"/>
                <a:cs typeface="Calibri"/>
              </a:rPr>
              <a:t>Modelo</a:t>
            </a:r>
            <a:endParaRPr sz="6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Modelos</a:t>
            </a:r>
            <a:r>
              <a:rPr dirty="0" sz="650" spc="6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precisam de</a:t>
            </a:r>
            <a:r>
              <a:rPr dirty="0" sz="650" spc="-2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validação</a:t>
            </a:r>
            <a:r>
              <a:rPr dirty="0" sz="650" spc="-40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cuidadosa</a:t>
            </a:r>
            <a:r>
              <a:rPr dirty="0" sz="6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para</a:t>
            </a:r>
            <a:r>
              <a:rPr dirty="0" sz="650" spc="-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novas</a:t>
            </a:r>
            <a:r>
              <a:rPr dirty="0" sz="65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>
                <a:solidFill>
                  <a:srgbClr val="DFDFDF"/>
                </a:solidFill>
                <a:latin typeface="Calibri"/>
                <a:cs typeface="Calibri"/>
              </a:rPr>
              <a:t>variedades</a:t>
            </a:r>
            <a:r>
              <a:rPr dirty="0" sz="650" spc="-2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10">
                <a:solidFill>
                  <a:srgbClr val="DFDFDF"/>
                </a:solidFill>
                <a:latin typeface="Calibri"/>
                <a:cs typeface="Calibri"/>
              </a:rPr>
              <a:t>e</a:t>
            </a:r>
            <a:r>
              <a:rPr dirty="0" sz="650" spc="65">
                <a:solidFill>
                  <a:srgbClr val="DFDFDF"/>
                </a:solidFill>
                <a:latin typeface="Calibri"/>
                <a:cs typeface="Calibri"/>
              </a:rPr>
              <a:t> </a:t>
            </a:r>
            <a:r>
              <a:rPr dirty="0" sz="650" spc="-10">
                <a:solidFill>
                  <a:srgbClr val="DFDFDF"/>
                </a:solidFill>
                <a:latin typeface="Calibri"/>
                <a:cs typeface="Calibri"/>
              </a:rPr>
              <a:t>condições.</a:t>
            </a:r>
            <a:endParaRPr sz="6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2025-12-05T16:34:20Z</dcterms:created>
  <dcterms:modified xsi:type="dcterms:W3CDTF">2025-12-05T16:34:20Z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2025-12-05T00:00:00Z</vt:filetime>
  </property>
  <property fmtid="{D5CDD505-2E9C-101B-9397-08002B2CF9AE}" pid="3" name="LastSaved">
    <vt:filetime>2025-12-05T00:00:00Z</vt:filetime>
  </property>
</Properties>
</file>